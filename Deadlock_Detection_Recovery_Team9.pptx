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We are Team 9, and our Operating Systems project is the Deadlock Detection and Recovery Simulator. It is an interactive tool that lets you create processes and resources, watch a deadlock form on a graph, detect it, and recover from it. The picture on the right is the classic two-process deadlock from our simulator: each process holds one resource and waits for the other. Introduce each team member by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deadlock with a simple story: two people each hold one tool and each need the other one, so neither can continue. In an OS, processes compete for resources like printers, files or locks. The graph on the right is the exact classic scenario from our simulator. Then state the problem: deadlocks are hard to see in real systems, so students need a tool where they can create one safely, see it, detect it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what we set out to do. Every objective maps to something you can click or type in the simulator. Right side: the four necessary conditions for deadlock (Coffman conditions). All four must hold at the same time. Be ready to explain each in one line. The small grey line under each condition shows where it appears in our simulator. Circular wait is what the detect command prints as a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flowchart left to right. The user loads a preset scenario or types commands such as spawn, res, request and release. A request is granted if a unit is free, otherwise the process BLOCKS and waits. Then Detect runs. If a deadlock is found we recover, then detect again, and we repeat until the system is safe. The four boxes at the bottom are the parts of the single-page simulator: the graph, the terminal, the buttons, and the metrics panel. Everything runs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in plain words: pretend processes finish one by one. A process can finish if it is not waiting, or if the resource it wants is currently available. When it finishes, it gives back everything it holds, which may let others finish. Anyone who can never finish is deadlocked. This works for resources with one unit and for resources with several units. Then findCycle follows waits-for then held-by links to print the cycle. On the left are the data structures from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automatic strategies plus one manual mode, all implemented. Kill all: terminate every deadlocked process, simple but wasteful. Kill one at a time: pick the process holding the most resources, kill it, re-check, repeat only if needed. Preempt plus rollback: do not kill, take all the victim resources and restart it; the victim is the one with the fewest past rollbacks, which guards against starvation. Manual: the user clicks a red process and chooses Kill or Preempt. After every step the simulator hands freed units to blocked processes and runs detection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3-process circular scenario (preset three) as the simulator draws it: P1 holds R1 and waits for R2, P2 holds R2 and waits for R3, P3 holds R3 and waits for R1. Detect prints the cycle. The table shows the real metrics we got by running each preset with each recovery strategy. Key points: kill-all kills every deadlocked process; kill-one and preempt need only one victim. Multi-instance preset is NOT deadlocked even though the graph looks busy, because P2 can finish and free an R1 unit, which lets the others finish. Also mention the live demo: 3 threads and 3 locks deadlock, the simulator detects it, and you pick the victim.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we built a working interactive simulator that shows a deadlock, detects it for single and multiple instance resources, and recovers using three automatic strategies or a manual choice, with metrics. The right column lists ideas for the future. Be clear these are PROPOSED and not implemented: deadlock prevention or avoidance, priority or cost-based victim selection, partial rollback, saving results. Finish by thanking the audience and inviting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Shape 1"/>
          <p:cNvSpPr/>
          <p:nvPr/>
        </p:nvSpPr>
        <p:spPr>
          <a:xfrm>
            <a:off x="7223760" y="822960"/>
            <a:ext cx="4480560" cy="5212080"/>
          </a:xfrm>
          <a:prstGeom prst="roundRect">
            <a:avLst>
              <a:gd name="adj" fmla="val 1633"/>
            </a:avLst>
          </a:prstGeom>
          <a:solidFill>
            <a:srgbClr val="0F1A36"/>
          </a:solidFill>
          <a:ln w="12700">
            <a:solidFill>
              <a:srgbClr val="24396B"/>
            </a:solidFill>
            <a:prstDash val="solid"/>
          </a:ln>
        </p:spPr>
      </p:sp>
      <p:sp>
        <p:nvSpPr>
          <p:cNvPr id="4" name="Text 2"/>
          <p:cNvSpPr txBox="1"/>
          <p:nvPr/>
        </p:nvSpPr>
        <p:spPr>
          <a:xfrm>
            <a:off x="7406640" y="960120"/>
            <a:ext cx="4114800" cy="274320"/>
          </a:xfrm>
          <a:prstGeom prst="rect">
            <a:avLst/>
          </a:prstGeom>
          <a:noFill/>
          <a:ln/>
        </p:spPr>
        <p:txBody>
          <a:bodyPr wrap="square" lIns="0" tIns="0" rIns="0" bIns="0" rtlCol="0" anchor="ctr"/>
          <a:lstStyle/>
          <a:p>
            <a:pPr indent="0" marL="0">
              <a:buNone/>
            </a:pPr>
            <a:r>
              <a:rPr lang="en-US" sz="1000" b="1" spc="300" kern="0" dirty="0">
                <a:solidFill>
                  <a:srgbClr val="93A4C8"/>
                </a:solidFill>
                <a:latin typeface="Segoe UI" pitchFamily="34" charset="0"/>
                <a:ea typeface="Segoe UI" pitchFamily="34" charset="-122"/>
                <a:cs typeface="Segoe UI" pitchFamily="34" charset="-120"/>
              </a:rPr>
              <a:t>RESOURCE ALLOCATION GRAPH</a:t>
            </a:r>
            <a:endParaRPr lang="en-US" sz="1000" dirty="0"/>
          </a:p>
        </p:txBody>
      </p:sp>
      <p:sp>
        <p:nvSpPr>
          <p:cNvPr id="5" name="Shape 3"/>
          <p:cNvSpPr/>
          <p:nvPr/>
        </p:nvSpPr>
        <p:spPr>
          <a:xfrm>
            <a:off x="8778240" y="1325880"/>
            <a:ext cx="1828800" cy="274320"/>
          </a:xfrm>
          <a:prstGeom prst="roundRect">
            <a:avLst>
              <a:gd name="adj" fmla="val 50000"/>
            </a:avLst>
          </a:prstGeom>
          <a:solidFill>
            <a:srgbClr val="142347"/>
          </a:solidFill>
          <a:ln w="12700">
            <a:solidFill>
              <a:srgbClr val="FF6B61"/>
            </a:solidFill>
            <a:prstDash val="solid"/>
          </a:ln>
        </p:spPr>
      </p:sp>
      <p:sp>
        <p:nvSpPr>
          <p:cNvPr id="6" name="Text 4"/>
          <p:cNvSpPr txBox="1"/>
          <p:nvPr/>
        </p:nvSpPr>
        <p:spPr>
          <a:xfrm>
            <a:off x="8778240" y="1325880"/>
            <a:ext cx="1828800" cy="274320"/>
          </a:xfrm>
          <a:prstGeom prst="rect">
            <a:avLst/>
          </a:prstGeom>
          <a:noFill/>
          <a:ln/>
        </p:spPr>
        <p:txBody>
          <a:bodyPr wrap="square" lIns="0" tIns="0" rIns="0" bIns="0" rtlCol="0" anchor="ctr"/>
          <a:lstStyle/>
          <a:p>
            <a:pPr algn="ctr" indent="0" marL="0">
              <a:buNone/>
            </a:pPr>
            <a:r>
              <a:rPr lang="en-US" sz="1000" b="1" dirty="0">
                <a:solidFill>
                  <a:srgbClr val="FF6B61"/>
                </a:solidFill>
                <a:latin typeface="Segoe UI" pitchFamily="34" charset="0"/>
                <a:ea typeface="Segoe UI" pitchFamily="34" charset="-122"/>
                <a:cs typeface="Segoe UI" pitchFamily="34" charset="-120"/>
              </a:rPr>
              <a:t>DEADLOCK: P1, P2</a:t>
            </a:r>
            <a:endParaRPr lang="en-US" sz="1000" dirty="0"/>
          </a:p>
        </p:txBody>
      </p:sp>
      <p:sp>
        <p:nvSpPr>
          <p:cNvPr id="7" name="Shape 5"/>
          <p:cNvSpPr/>
          <p:nvPr/>
        </p:nvSpPr>
        <p:spPr>
          <a:xfrm flipV="1">
            <a:off x="8778240" y="2560320"/>
            <a:ext cx="0" cy="1874520"/>
          </a:xfrm>
          <a:prstGeom prst="line">
            <a:avLst/>
          </a:prstGeom>
          <a:noFill/>
          <a:ln w="25400">
            <a:solidFill>
              <a:srgbClr val="FF6B61"/>
            </a:solidFill>
            <a:prstDash val="solid"/>
            <a:tailEnd type="triangle"/>
          </a:ln>
        </p:spPr>
      </p:sp>
      <p:sp>
        <p:nvSpPr>
          <p:cNvPr id="8" name="Shape 6"/>
          <p:cNvSpPr/>
          <p:nvPr/>
        </p:nvSpPr>
        <p:spPr>
          <a:xfrm flipV="1">
            <a:off x="10149840" y="2560320"/>
            <a:ext cx="0" cy="1874520"/>
          </a:xfrm>
          <a:prstGeom prst="line">
            <a:avLst/>
          </a:prstGeom>
          <a:noFill/>
          <a:ln w="25400">
            <a:solidFill>
              <a:srgbClr val="FF6B61"/>
            </a:solidFill>
            <a:prstDash val="solid"/>
            <a:tailEnd type="triangle"/>
          </a:ln>
        </p:spPr>
      </p:sp>
      <p:sp>
        <p:nvSpPr>
          <p:cNvPr id="9" name="Shape 7"/>
          <p:cNvSpPr/>
          <p:nvPr/>
        </p:nvSpPr>
        <p:spPr>
          <a:xfrm>
            <a:off x="8964742" y="2515627"/>
            <a:ext cx="998596" cy="1963906"/>
          </a:xfrm>
          <a:prstGeom prst="line">
            <a:avLst/>
          </a:prstGeom>
          <a:noFill/>
          <a:ln w="25400">
            <a:solidFill>
              <a:srgbClr val="FF6B61"/>
            </a:solidFill>
            <a:prstDash val="dash"/>
            <a:tailEnd type="triangle"/>
          </a:ln>
        </p:spPr>
      </p:sp>
      <p:sp>
        <p:nvSpPr>
          <p:cNvPr id="10" name="Shape 8"/>
          <p:cNvSpPr/>
          <p:nvPr/>
        </p:nvSpPr>
        <p:spPr>
          <a:xfrm flipH="1">
            <a:off x="8964742" y="2515627"/>
            <a:ext cx="998596" cy="1963906"/>
          </a:xfrm>
          <a:prstGeom prst="line">
            <a:avLst/>
          </a:prstGeom>
          <a:noFill/>
          <a:ln w="25400">
            <a:solidFill>
              <a:srgbClr val="FF6B61"/>
            </a:solidFill>
            <a:prstDash val="dash"/>
            <a:tailEnd type="triangle"/>
          </a:ln>
        </p:spPr>
      </p:sp>
      <p:sp>
        <p:nvSpPr>
          <p:cNvPr id="11" name="Shape 9"/>
          <p:cNvSpPr/>
          <p:nvPr/>
        </p:nvSpPr>
        <p:spPr>
          <a:xfrm>
            <a:off x="8449056" y="1819656"/>
            <a:ext cx="658368" cy="658368"/>
          </a:xfrm>
          <a:prstGeom prst="ellipse">
            <a:avLst/>
          </a:prstGeom>
          <a:solidFill>
            <a:srgbClr val="142347"/>
          </a:solidFill>
          <a:ln w="31750">
            <a:solidFill>
              <a:srgbClr val="FF6B61"/>
            </a:solidFill>
            <a:prstDash val="solid"/>
          </a:ln>
        </p:spPr>
      </p:sp>
      <p:sp>
        <p:nvSpPr>
          <p:cNvPr id="12" name="Shape 10"/>
          <p:cNvSpPr/>
          <p:nvPr/>
        </p:nvSpPr>
        <p:spPr>
          <a:xfrm>
            <a:off x="9820656" y="1819656"/>
            <a:ext cx="658368" cy="658368"/>
          </a:xfrm>
          <a:prstGeom prst="ellipse">
            <a:avLst/>
          </a:prstGeom>
          <a:solidFill>
            <a:srgbClr val="142347"/>
          </a:solidFill>
          <a:ln w="31750">
            <a:solidFill>
              <a:srgbClr val="FF6B61"/>
            </a:solidFill>
            <a:prstDash val="solid"/>
          </a:ln>
        </p:spPr>
      </p:sp>
      <p:sp>
        <p:nvSpPr>
          <p:cNvPr id="13" name="Text 11"/>
          <p:cNvSpPr txBox="1"/>
          <p:nvPr/>
        </p:nvSpPr>
        <p:spPr>
          <a:xfrm>
            <a:off x="8449056" y="181965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P1</a:t>
            </a:r>
            <a:endParaRPr lang="en-US" sz="1300" dirty="0"/>
          </a:p>
        </p:txBody>
      </p:sp>
      <p:sp>
        <p:nvSpPr>
          <p:cNvPr id="14" name="Text 12"/>
          <p:cNvSpPr txBox="1"/>
          <p:nvPr/>
        </p:nvSpPr>
        <p:spPr>
          <a:xfrm>
            <a:off x="9820656" y="181965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P2</a:t>
            </a:r>
            <a:endParaRPr lang="en-US" sz="1300" dirty="0"/>
          </a:p>
        </p:txBody>
      </p:sp>
      <p:sp>
        <p:nvSpPr>
          <p:cNvPr id="15" name="Shape 13"/>
          <p:cNvSpPr/>
          <p:nvPr/>
        </p:nvSpPr>
        <p:spPr>
          <a:xfrm>
            <a:off x="8458200" y="4526280"/>
            <a:ext cx="640080" cy="640080"/>
          </a:xfrm>
          <a:prstGeom prst="roundRect">
            <a:avLst>
              <a:gd name="adj" fmla="val 8571"/>
            </a:avLst>
          </a:prstGeom>
          <a:solidFill>
            <a:srgbClr val="142347"/>
          </a:solidFill>
          <a:ln w="19050">
            <a:solidFill>
              <a:srgbClr val="E8EEFF"/>
            </a:solidFill>
            <a:prstDash val="solid"/>
          </a:ln>
        </p:spPr>
      </p:sp>
      <p:sp>
        <p:nvSpPr>
          <p:cNvPr id="16" name="Text 14"/>
          <p:cNvSpPr txBox="1"/>
          <p:nvPr/>
        </p:nvSpPr>
        <p:spPr>
          <a:xfrm>
            <a:off x="8458200" y="452628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R1</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17" name="Shape 15"/>
          <p:cNvSpPr/>
          <p:nvPr/>
        </p:nvSpPr>
        <p:spPr>
          <a:xfrm>
            <a:off x="9829800" y="4526280"/>
            <a:ext cx="640080" cy="640080"/>
          </a:xfrm>
          <a:prstGeom prst="roundRect">
            <a:avLst>
              <a:gd name="adj" fmla="val 8571"/>
            </a:avLst>
          </a:prstGeom>
          <a:solidFill>
            <a:srgbClr val="142347"/>
          </a:solidFill>
          <a:ln w="19050">
            <a:solidFill>
              <a:srgbClr val="E8EEFF"/>
            </a:solidFill>
            <a:prstDash val="solid"/>
          </a:ln>
        </p:spPr>
      </p:sp>
      <p:sp>
        <p:nvSpPr>
          <p:cNvPr id="18" name="Text 16"/>
          <p:cNvSpPr txBox="1"/>
          <p:nvPr/>
        </p:nvSpPr>
        <p:spPr>
          <a:xfrm>
            <a:off x="9829800" y="452628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R2</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19" name="Shape 17"/>
          <p:cNvSpPr/>
          <p:nvPr/>
        </p:nvSpPr>
        <p:spPr>
          <a:xfrm>
            <a:off x="7452360" y="5779008"/>
            <a:ext cx="411480" cy="0"/>
          </a:xfrm>
          <a:prstGeom prst="line">
            <a:avLst/>
          </a:prstGeom>
          <a:noFill/>
          <a:ln w="25400">
            <a:solidFill>
              <a:srgbClr val="93A4C8"/>
            </a:solidFill>
            <a:prstDash val="solid"/>
            <a:tailEnd type="triangle"/>
          </a:ln>
        </p:spPr>
      </p:sp>
      <p:sp>
        <p:nvSpPr>
          <p:cNvPr id="20" name="Text 18"/>
          <p:cNvSpPr txBox="1"/>
          <p:nvPr/>
        </p:nvSpPr>
        <p:spPr>
          <a:xfrm>
            <a:off x="7927848" y="5669280"/>
            <a:ext cx="82296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held by</a:t>
            </a:r>
            <a:endParaRPr lang="en-US" sz="1000" dirty="0"/>
          </a:p>
        </p:txBody>
      </p:sp>
      <p:sp>
        <p:nvSpPr>
          <p:cNvPr id="21" name="Shape 19"/>
          <p:cNvSpPr/>
          <p:nvPr/>
        </p:nvSpPr>
        <p:spPr>
          <a:xfrm>
            <a:off x="8823960" y="5779008"/>
            <a:ext cx="411480" cy="0"/>
          </a:xfrm>
          <a:prstGeom prst="line">
            <a:avLst/>
          </a:prstGeom>
          <a:noFill/>
          <a:ln w="25400">
            <a:solidFill>
              <a:srgbClr val="93A4C8"/>
            </a:solidFill>
            <a:prstDash val="dash"/>
            <a:tailEnd type="triangle"/>
          </a:ln>
        </p:spPr>
      </p:sp>
      <p:sp>
        <p:nvSpPr>
          <p:cNvPr id="22" name="Text 20"/>
          <p:cNvSpPr txBox="1"/>
          <p:nvPr/>
        </p:nvSpPr>
        <p:spPr>
          <a:xfrm>
            <a:off x="9299448" y="5669280"/>
            <a:ext cx="100584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waiting for</a:t>
            </a:r>
            <a:endParaRPr lang="en-US" sz="1000" dirty="0"/>
          </a:p>
        </p:txBody>
      </p:sp>
      <p:sp>
        <p:nvSpPr>
          <p:cNvPr id="23" name="Shape 21"/>
          <p:cNvSpPr/>
          <p:nvPr/>
        </p:nvSpPr>
        <p:spPr>
          <a:xfrm>
            <a:off x="10378440" y="5696712"/>
            <a:ext cx="182880" cy="182880"/>
          </a:xfrm>
          <a:prstGeom prst="ellipse">
            <a:avLst/>
          </a:prstGeom>
          <a:solidFill>
            <a:srgbClr val="142347"/>
          </a:solidFill>
          <a:ln w="25400">
            <a:solidFill>
              <a:srgbClr val="FF6B61"/>
            </a:solidFill>
            <a:prstDash val="solid"/>
          </a:ln>
        </p:spPr>
      </p:sp>
      <p:sp>
        <p:nvSpPr>
          <p:cNvPr id="24" name="Text 22"/>
          <p:cNvSpPr txBox="1"/>
          <p:nvPr/>
        </p:nvSpPr>
        <p:spPr>
          <a:xfrm>
            <a:off x="10625328" y="5669280"/>
            <a:ext cx="91440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deadlocked</a:t>
            </a:r>
            <a:endParaRPr lang="en-US" sz="1000" dirty="0"/>
          </a:p>
        </p:txBody>
      </p:sp>
      <p:sp>
        <p:nvSpPr>
          <p:cNvPr id="25" name="Text 23"/>
          <p:cNvSpPr txBox="1"/>
          <p:nvPr/>
        </p:nvSpPr>
        <p:spPr>
          <a:xfrm>
            <a:off x="640080" y="822960"/>
            <a:ext cx="6400800" cy="274320"/>
          </a:xfrm>
          <a:prstGeom prst="rect">
            <a:avLst/>
          </a:prstGeom>
          <a:noFill/>
          <a:ln/>
        </p:spPr>
        <p:txBody>
          <a:bodyPr wrap="square" lIns="0" tIns="0" rIns="0" bIns="0" rtlCol="0" anchor="ctr"/>
          <a:lstStyle/>
          <a:p>
            <a:pPr indent="0" marL="0">
              <a:buNone/>
            </a:pPr>
            <a:r>
              <a:rPr lang="en-US" sz="1200" b="1" spc="400" kern="0" dirty="0">
                <a:solidFill>
                  <a:srgbClr val="22D3EE"/>
                </a:solidFill>
                <a:latin typeface="Segoe UI" pitchFamily="34" charset="0"/>
                <a:ea typeface="Segoe UI" pitchFamily="34" charset="-122"/>
                <a:cs typeface="Segoe UI" pitchFamily="34" charset="-120"/>
              </a:rPr>
              <a:t>OPERATING SYSTEMS  |  PROJECT PRESENTATION</a:t>
            </a:r>
            <a:endParaRPr lang="en-US" sz="1200" dirty="0"/>
          </a:p>
        </p:txBody>
      </p:sp>
      <p:sp>
        <p:nvSpPr>
          <p:cNvPr id="26" name="Text 24"/>
          <p:cNvSpPr txBox="1"/>
          <p:nvPr/>
        </p:nvSpPr>
        <p:spPr>
          <a:xfrm>
            <a:off x="640080" y="1280160"/>
            <a:ext cx="6309360" cy="1737360"/>
          </a:xfrm>
          <a:prstGeom prst="rect">
            <a:avLst/>
          </a:prstGeom>
          <a:noFill/>
          <a:ln/>
        </p:spPr>
        <p:txBody>
          <a:bodyPr wrap="square" lIns="0" tIns="0" rIns="0" bIns="0" rtlCol="0" anchor="t"/>
          <a:lstStyle/>
          <a:p>
            <a:pPr indent="0" marL="0">
              <a:buNone/>
            </a:pPr>
            <a:r>
              <a:rPr lang="en-US" sz="3800" b="1" dirty="0">
                <a:solidFill>
                  <a:srgbClr val="E8EEFF"/>
                </a:solidFill>
                <a:latin typeface="Segoe UI" pitchFamily="34" charset="0"/>
                <a:ea typeface="Segoe UI" pitchFamily="34" charset="-122"/>
                <a:cs typeface="Segoe UI" pitchFamily="34" charset="-120"/>
              </a:rPr>
              <a:t>Deadlock Detection and Recovery Simulator</a:t>
            </a:r>
            <a:endParaRPr lang="en-US" sz="3800" dirty="0"/>
          </a:p>
        </p:txBody>
      </p:sp>
      <p:sp>
        <p:nvSpPr>
          <p:cNvPr id="27" name="Shape 25"/>
          <p:cNvSpPr/>
          <p:nvPr/>
        </p:nvSpPr>
        <p:spPr>
          <a:xfrm>
            <a:off x="640080" y="3246120"/>
            <a:ext cx="1280160" cy="54864"/>
          </a:xfrm>
          <a:prstGeom prst="rect">
            <a:avLst/>
          </a:prstGeom>
          <a:solidFill>
            <a:srgbClr val="22D3EE"/>
          </a:solidFill>
          <a:ln w="12700">
            <a:solidFill>
              <a:srgbClr val="22D3EE"/>
            </a:solidFill>
            <a:prstDash val="solid"/>
          </a:ln>
        </p:spPr>
      </p:sp>
      <p:sp>
        <p:nvSpPr>
          <p:cNvPr id="28" name="Text 26"/>
          <p:cNvSpPr txBox="1"/>
          <p:nvPr/>
        </p:nvSpPr>
        <p:spPr>
          <a:xfrm>
            <a:off x="640080" y="3474720"/>
            <a:ext cx="5943600" cy="731520"/>
          </a:xfrm>
          <a:prstGeom prst="rect">
            <a:avLst/>
          </a:prstGeom>
          <a:noFill/>
          <a:ln/>
        </p:spPr>
        <p:txBody>
          <a:bodyPr wrap="square" lIns="0" tIns="0" rIns="0" bIns="0" rtlCol="0" anchor="ctr"/>
          <a:lstStyle/>
          <a:p>
            <a:pPr indent="0" marL="0">
              <a:spcAft>
                <a:spcPts val="400"/>
              </a:spcAft>
              <a:buNone/>
            </a:pPr>
            <a:r>
              <a:rPr lang="en-US" sz="1600" dirty="0">
                <a:solidFill>
                  <a:srgbClr val="93A4C8"/>
                </a:solidFill>
                <a:latin typeface="Segoe UI" pitchFamily="34" charset="0"/>
                <a:ea typeface="Segoe UI" pitchFamily="34" charset="-122"/>
                <a:cs typeface="Segoe UI" pitchFamily="34" charset="-120"/>
              </a:rPr>
              <a:t>Subject: </a:t>
            </a:r>
            <a:pPr indent="0" marL="0">
              <a:spcAft>
                <a:spcPts val="400"/>
              </a:spcAft>
              <a:buNone/>
            </a:pPr>
            <a:r>
              <a:rPr lang="en-US" sz="1600" b="1" dirty="0">
                <a:solidFill>
                  <a:srgbClr val="E8EEFF"/>
                </a:solidFill>
                <a:latin typeface="Segoe UI" pitchFamily="34" charset="0"/>
                <a:ea typeface="Segoe UI" pitchFamily="34" charset="-122"/>
                <a:cs typeface="Segoe UI" pitchFamily="34" charset="-120"/>
              </a:rPr>
              <a:t>Operating Systems</a:t>
            </a:r>
            <a:endParaRPr lang="en-US" sz="1600" dirty="0"/>
          </a:p>
          <a:p>
            <a:pPr indent="0" marL="0">
              <a:spcAft>
                <a:spcPts val="400"/>
              </a:spcAft>
              <a:buNone/>
            </a:pPr>
            <a:r>
              <a:rPr lang="en-US" sz="1600" dirty="0">
                <a:solidFill>
                  <a:srgbClr val="93A4C8"/>
                </a:solidFill>
                <a:latin typeface="Segoe UI" pitchFamily="34" charset="0"/>
                <a:ea typeface="Segoe UI" pitchFamily="34" charset="-122"/>
                <a:cs typeface="Segoe UI" pitchFamily="34" charset="-120"/>
              </a:rPr>
              <a:t>Team: </a:t>
            </a:r>
            <a:pPr indent="0" marL="0">
              <a:spcAft>
                <a:spcPts val="400"/>
              </a:spcAft>
              <a:buNone/>
            </a:pPr>
            <a:r>
              <a:rPr lang="en-US" sz="1600" b="1" dirty="0">
                <a:solidFill>
                  <a:srgbClr val="E8EEFF"/>
                </a:solidFill>
                <a:latin typeface="Segoe UI" pitchFamily="34" charset="0"/>
                <a:ea typeface="Segoe UI" pitchFamily="34" charset="-122"/>
                <a:cs typeface="Segoe UI" pitchFamily="34" charset="-120"/>
              </a:rPr>
              <a:t>Team 9</a:t>
            </a:r>
            <a:endParaRPr lang="en-US" sz="1600" dirty="0"/>
          </a:p>
        </p:txBody>
      </p:sp>
      <p:sp>
        <p:nvSpPr>
          <p:cNvPr id="29" name="Shape 27"/>
          <p:cNvSpPr/>
          <p:nvPr/>
        </p:nvSpPr>
        <p:spPr>
          <a:xfrm>
            <a:off x="640080" y="4343400"/>
            <a:ext cx="5943600" cy="475488"/>
          </a:xfrm>
          <a:prstGeom prst="roundRect">
            <a:avLst>
              <a:gd name="adj" fmla="val 15385"/>
            </a:avLst>
          </a:prstGeom>
          <a:solidFill>
            <a:srgbClr val="0F1A36"/>
          </a:solidFill>
          <a:ln w="12700">
            <a:solidFill>
              <a:srgbClr val="24396B"/>
            </a:solidFill>
            <a:prstDash val="solid"/>
          </a:ln>
        </p:spPr>
      </p:sp>
      <p:sp>
        <p:nvSpPr>
          <p:cNvPr id="30" name="Text 28"/>
          <p:cNvSpPr txBox="1"/>
          <p:nvPr/>
        </p:nvSpPr>
        <p:spPr>
          <a:xfrm>
            <a:off x="822960" y="4343400"/>
            <a:ext cx="3108960" cy="475488"/>
          </a:xfrm>
          <a:prstGeom prst="rect">
            <a:avLst/>
          </a:prstGeom>
          <a:noFill/>
          <a:ln/>
        </p:spPr>
        <p:txBody>
          <a:bodyPr wrap="square" lIns="0" tIns="0" rIns="0" bIns="0" rtlCol="0" anchor="ctr"/>
          <a:lstStyle/>
          <a:p>
            <a:pPr indent="0" marL="0">
              <a:buNone/>
            </a:pPr>
            <a:r>
              <a:rPr lang="en-US" sz="1500" b="1" dirty="0">
                <a:solidFill>
                  <a:srgbClr val="E8EEFF"/>
                </a:solidFill>
                <a:latin typeface="Segoe UI" pitchFamily="34" charset="0"/>
                <a:ea typeface="Segoe UI" pitchFamily="34" charset="-122"/>
                <a:cs typeface="Segoe UI" pitchFamily="34" charset="-120"/>
              </a:rPr>
              <a:t>K. Chaitanya</a:t>
            </a:r>
            <a:endParaRPr lang="en-US" sz="1500" dirty="0"/>
          </a:p>
        </p:txBody>
      </p:sp>
      <p:sp>
        <p:nvSpPr>
          <p:cNvPr id="31" name="Text 29"/>
          <p:cNvSpPr txBox="1"/>
          <p:nvPr/>
        </p:nvSpPr>
        <p:spPr>
          <a:xfrm>
            <a:off x="3931920" y="4343400"/>
            <a:ext cx="2468880" cy="475488"/>
          </a:xfrm>
          <a:prstGeom prst="rect">
            <a:avLst/>
          </a:prstGeom>
          <a:noFill/>
          <a:ln/>
        </p:spPr>
        <p:txBody>
          <a:bodyPr wrap="square" lIns="0" tIns="0" rIns="0" bIns="0" rtlCol="0" anchor="ctr"/>
          <a:lstStyle/>
          <a:p>
            <a:pPr algn="r" indent="0" marL="0">
              <a:buNone/>
            </a:pPr>
            <a:r>
              <a:rPr lang="en-US" sz="1400" dirty="0">
                <a:solidFill>
                  <a:srgbClr val="22D3EE"/>
                </a:solidFill>
                <a:latin typeface="Consolas" pitchFamily="34" charset="0"/>
                <a:ea typeface="Consolas" pitchFamily="34" charset="-122"/>
                <a:cs typeface="Consolas" pitchFamily="34" charset="-120"/>
              </a:rPr>
              <a:t>2520030210</a:t>
            </a:r>
            <a:endParaRPr lang="en-US" sz="1400" dirty="0"/>
          </a:p>
        </p:txBody>
      </p:sp>
      <p:sp>
        <p:nvSpPr>
          <p:cNvPr id="32" name="Shape 30"/>
          <p:cNvSpPr/>
          <p:nvPr/>
        </p:nvSpPr>
        <p:spPr>
          <a:xfrm>
            <a:off x="640080" y="4910328"/>
            <a:ext cx="5943600" cy="475488"/>
          </a:xfrm>
          <a:prstGeom prst="roundRect">
            <a:avLst>
              <a:gd name="adj" fmla="val 15385"/>
            </a:avLst>
          </a:prstGeom>
          <a:solidFill>
            <a:srgbClr val="0F1A36"/>
          </a:solidFill>
          <a:ln w="12700">
            <a:solidFill>
              <a:srgbClr val="24396B"/>
            </a:solidFill>
            <a:prstDash val="solid"/>
          </a:ln>
        </p:spPr>
      </p:sp>
      <p:sp>
        <p:nvSpPr>
          <p:cNvPr id="33" name="Text 31"/>
          <p:cNvSpPr txBox="1"/>
          <p:nvPr/>
        </p:nvSpPr>
        <p:spPr>
          <a:xfrm>
            <a:off x="822960" y="4910328"/>
            <a:ext cx="3108960" cy="475488"/>
          </a:xfrm>
          <a:prstGeom prst="rect">
            <a:avLst/>
          </a:prstGeom>
          <a:noFill/>
          <a:ln/>
        </p:spPr>
        <p:txBody>
          <a:bodyPr wrap="square" lIns="0" tIns="0" rIns="0" bIns="0" rtlCol="0" anchor="ctr"/>
          <a:lstStyle/>
          <a:p>
            <a:pPr indent="0" marL="0">
              <a:buNone/>
            </a:pPr>
            <a:r>
              <a:rPr lang="en-US" sz="1500" b="1" dirty="0">
                <a:solidFill>
                  <a:srgbClr val="E8EEFF"/>
                </a:solidFill>
                <a:latin typeface="Segoe UI" pitchFamily="34" charset="0"/>
                <a:ea typeface="Segoe UI" pitchFamily="34" charset="-122"/>
                <a:cs typeface="Segoe UI" pitchFamily="34" charset="-120"/>
              </a:rPr>
              <a:t>Aakiri Deeraj</a:t>
            </a:r>
            <a:endParaRPr lang="en-US" sz="1500" dirty="0"/>
          </a:p>
        </p:txBody>
      </p:sp>
      <p:sp>
        <p:nvSpPr>
          <p:cNvPr id="34" name="Text 32"/>
          <p:cNvSpPr txBox="1"/>
          <p:nvPr/>
        </p:nvSpPr>
        <p:spPr>
          <a:xfrm>
            <a:off x="3931920" y="4910328"/>
            <a:ext cx="2468880" cy="475488"/>
          </a:xfrm>
          <a:prstGeom prst="rect">
            <a:avLst/>
          </a:prstGeom>
          <a:noFill/>
          <a:ln/>
        </p:spPr>
        <p:txBody>
          <a:bodyPr wrap="square" lIns="0" tIns="0" rIns="0" bIns="0" rtlCol="0" anchor="ctr"/>
          <a:lstStyle/>
          <a:p>
            <a:pPr algn="r" indent="0" marL="0">
              <a:buNone/>
            </a:pPr>
            <a:r>
              <a:rPr lang="en-US" sz="1400" dirty="0">
                <a:solidFill>
                  <a:srgbClr val="22D3EE"/>
                </a:solidFill>
                <a:latin typeface="Consolas" pitchFamily="34" charset="0"/>
                <a:ea typeface="Consolas" pitchFamily="34" charset="-122"/>
                <a:cs typeface="Consolas" pitchFamily="34" charset="-120"/>
              </a:rPr>
              <a:t>2520030113</a:t>
            </a:r>
            <a:endParaRPr lang="en-US" sz="1400" dirty="0"/>
          </a:p>
        </p:txBody>
      </p:sp>
      <p:sp>
        <p:nvSpPr>
          <p:cNvPr id="35" name="Shape 33"/>
          <p:cNvSpPr/>
          <p:nvPr/>
        </p:nvSpPr>
        <p:spPr>
          <a:xfrm>
            <a:off x="640080" y="5477256"/>
            <a:ext cx="5943600" cy="475488"/>
          </a:xfrm>
          <a:prstGeom prst="roundRect">
            <a:avLst>
              <a:gd name="adj" fmla="val 15385"/>
            </a:avLst>
          </a:prstGeom>
          <a:solidFill>
            <a:srgbClr val="0F1A36"/>
          </a:solidFill>
          <a:ln w="12700">
            <a:solidFill>
              <a:srgbClr val="24396B"/>
            </a:solidFill>
            <a:prstDash val="solid"/>
          </a:ln>
        </p:spPr>
      </p:sp>
      <p:sp>
        <p:nvSpPr>
          <p:cNvPr id="36" name="Text 34"/>
          <p:cNvSpPr txBox="1"/>
          <p:nvPr/>
        </p:nvSpPr>
        <p:spPr>
          <a:xfrm>
            <a:off x="822960" y="5477256"/>
            <a:ext cx="3108960" cy="475488"/>
          </a:xfrm>
          <a:prstGeom prst="rect">
            <a:avLst/>
          </a:prstGeom>
          <a:noFill/>
          <a:ln/>
        </p:spPr>
        <p:txBody>
          <a:bodyPr wrap="square" lIns="0" tIns="0" rIns="0" bIns="0" rtlCol="0" anchor="ctr"/>
          <a:lstStyle/>
          <a:p>
            <a:pPr indent="0" marL="0">
              <a:buNone/>
            </a:pPr>
            <a:r>
              <a:rPr lang="en-US" sz="1500" b="1" dirty="0">
                <a:solidFill>
                  <a:srgbClr val="E8EEFF"/>
                </a:solidFill>
                <a:latin typeface="Segoe UI" pitchFamily="34" charset="0"/>
                <a:ea typeface="Segoe UI" pitchFamily="34" charset="-122"/>
                <a:cs typeface="Segoe UI" pitchFamily="34" charset="-120"/>
              </a:rPr>
              <a:t>K. Abhiram</a:t>
            </a:r>
            <a:endParaRPr lang="en-US" sz="1500" dirty="0"/>
          </a:p>
        </p:txBody>
      </p:sp>
      <p:sp>
        <p:nvSpPr>
          <p:cNvPr id="37" name="Text 35"/>
          <p:cNvSpPr txBox="1"/>
          <p:nvPr/>
        </p:nvSpPr>
        <p:spPr>
          <a:xfrm>
            <a:off x="3931920" y="5477256"/>
            <a:ext cx="2468880" cy="475488"/>
          </a:xfrm>
          <a:prstGeom prst="rect">
            <a:avLst/>
          </a:prstGeom>
          <a:noFill/>
          <a:ln/>
        </p:spPr>
        <p:txBody>
          <a:bodyPr wrap="square" lIns="0" tIns="0" rIns="0" bIns="0" rtlCol="0" anchor="ctr"/>
          <a:lstStyle/>
          <a:p>
            <a:pPr algn="r" indent="0" marL="0">
              <a:buNone/>
            </a:pPr>
            <a:r>
              <a:rPr lang="en-US" sz="1400" dirty="0">
                <a:solidFill>
                  <a:srgbClr val="22D3EE"/>
                </a:solidFill>
                <a:latin typeface="Consolas" pitchFamily="34" charset="0"/>
                <a:ea typeface="Consolas" pitchFamily="34" charset="-122"/>
                <a:cs typeface="Consolas" pitchFamily="34" charset="-120"/>
              </a:rPr>
              <a:t>2520030357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01  INTRODUCTION</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Introduction and Problem Statement</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2 / 8</a:t>
            </a:r>
            <a:endParaRPr lang="en-US" sz="900" dirty="0"/>
          </a:p>
        </p:txBody>
      </p:sp>
      <p:sp>
        <p:nvSpPr>
          <p:cNvPr id="9" name="Shape 6"/>
          <p:cNvSpPr/>
          <p:nvPr/>
        </p:nvSpPr>
        <p:spPr>
          <a:xfrm>
            <a:off x="548640" y="1463040"/>
            <a:ext cx="5760720" cy="2148840"/>
          </a:xfrm>
          <a:prstGeom prst="roundRect">
            <a:avLst>
              <a:gd name="adj" fmla="val 3404"/>
            </a:avLst>
          </a:prstGeom>
          <a:solidFill>
            <a:srgbClr val="0F1A36"/>
          </a:solidFill>
          <a:ln w="12700">
            <a:solidFill>
              <a:srgbClr val="24396B"/>
            </a:solidFill>
            <a:prstDash val="solid"/>
          </a:ln>
        </p:spPr>
      </p:sp>
      <p:sp>
        <p:nvSpPr>
          <p:cNvPr id="10" name="Text 7"/>
          <p:cNvSpPr txBox="1"/>
          <p:nvPr/>
        </p:nvSpPr>
        <p:spPr>
          <a:xfrm>
            <a:off x="777240" y="1572768"/>
            <a:ext cx="5303520" cy="320040"/>
          </a:xfrm>
          <a:prstGeom prst="rect">
            <a:avLst/>
          </a:prstGeom>
          <a:noFill/>
          <a:ln/>
        </p:spPr>
        <p:txBody>
          <a:bodyPr wrap="square" lIns="0" tIns="0" rIns="0" bIns="0" rtlCol="0" anchor="ctr"/>
          <a:lstStyle/>
          <a:p>
            <a:pPr indent="0" marL="0">
              <a:buNone/>
            </a:pPr>
            <a:r>
              <a:rPr lang="en-US" sz="1700" b="1" dirty="0">
                <a:solidFill>
                  <a:srgbClr val="22D3EE"/>
                </a:solidFill>
                <a:latin typeface="Segoe UI" pitchFamily="34" charset="0"/>
                <a:ea typeface="Segoe UI" pitchFamily="34" charset="-122"/>
                <a:cs typeface="Segoe UI" pitchFamily="34" charset="-120"/>
              </a:rPr>
              <a:t>What is a deadlock?</a:t>
            </a:r>
            <a:endParaRPr lang="en-US" sz="1700" dirty="0"/>
          </a:p>
        </p:txBody>
      </p:sp>
      <p:sp>
        <p:nvSpPr>
          <p:cNvPr id="11" name="Text 8"/>
          <p:cNvSpPr txBox="1"/>
          <p:nvPr/>
        </p:nvSpPr>
        <p:spPr>
          <a:xfrm>
            <a:off x="777240" y="1965960"/>
            <a:ext cx="5349240" cy="155448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A set of processes are all blocked, each waiting for a resource held by another process in the set.</a:t>
            </a:r>
            <a:endParaRPr lang="en-US" sz="1400" dirty="0"/>
          </a:p>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None can proceed, so none ever releases its resource.</a:t>
            </a:r>
            <a:endParaRPr lang="en-US" sz="1400" dirty="0"/>
          </a:p>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Example: P1 holds R1 and wants R2, while P2 holds R2 and wants R1.</a:t>
            </a:r>
            <a:endParaRPr lang="en-US" sz="1400" dirty="0"/>
          </a:p>
        </p:txBody>
      </p:sp>
      <p:sp>
        <p:nvSpPr>
          <p:cNvPr id="12" name="Shape 9"/>
          <p:cNvSpPr/>
          <p:nvPr/>
        </p:nvSpPr>
        <p:spPr>
          <a:xfrm>
            <a:off x="548640" y="3794760"/>
            <a:ext cx="5760720" cy="2331720"/>
          </a:xfrm>
          <a:prstGeom prst="roundRect">
            <a:avLst>
              <a:gd name="adj" fmla="val 3137"/>
            </a:avLst>
          </a:prstGeom>
          <a:solidFill>
            <a:srgbClr val="0F1A36"/>
          </a:solidFill>
          <a:ln w="12700">
            <a:solidFill>
              <a:srgbClr val="FF6B61"/>
            </a:solidFill>
            <a:prstDash val="solid"/>
          </a:ln>
        </p:spPr>
      </p:sp>
      <p:sp>
        <p:nvSpPr>
          <p:cNvPr id="13" name="Text 10"/>
          <p:cNvSpPr txBox="1"/>
          <p:nvPr/>
        </p:nvSpPr>
        <p:spPr>
          <a:xfrm>
            <a:off x="777240" y="3904488"/>
            <a:ext cx="5303520" cy="320040"/>
          </a:xfrm>
          <a:prstGeom prst="rect">
            <a:avLst/>
          </a:prstGeom>
          <a:noFill/>
          <a:ln/>
        </p:spPr>
        <p:txBody>
          <a:bodyPr wrap="square" lIns="0" tIns="0" rIns="0" bIns="0" rtlCol="0" anchor="ctr"/>
          <a:lstStyle/>
          <a:p>
            <a:pPr indent="0" marL="0">
              <a:buNone/>
            </a:pPr>
            <a:r>
              <a:rPr lang="en-US" sz="1700" b="1" dirty="0">
                <a:solidFill>
                  <a:srgbClr val="FF6B61"/>
                </a:solidFill>
                <a:latin typeface="Segoe UI" pitchFamily="34" charset="0"/>
                <a:ea typeface="Segoe UI" pitchFamily="34" charset="-122"/>
                <a:cs typeface="Segoe UI" pitchFamily="34" charset="-120"/>
              </a:rPr>
              <a:t>Problem our project addresses</a:t>
            </a:r>
            <a:endParaRPr lang="en-US" sz="1700" dirty="0"/>
          </a:p>
        </p:txBody>
      </p:sp>
      <p:sp>
        <p:nvSpPr>
          <p:cNvPr id="14" name="Text 11"/>
          <p:cNvSpPr txBox="1"/>
          <p:nvPr/>
        </p:nvSpPr>
        <p:spPr>
          <a:xfrm>
            <a:off x="777240" y="4297680"/>
            <a:ext cx="534924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Deadlocks are invisible: the system just appears stuck.</a:t>
            </a:r>
            <a:endParaRPr lang="en-US" sz="1400" dirty="0"/>
          </a:p>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Hard to learn from theory alone, and unsafe to trigger on a real OS.</a:t>
            </a:r>
            <a:endParaRPr lang="en-US" sz="1400" dirty="0"/>
          </a:p>
          <a:p>
            <a:pPr marL="342900" indent="-342900">
              <a:spcAft>
                <a:spcPts val="600"/>
              </a:spcAft>
              <a:buSzPct val="100000"/>
              <a:buChar char="•"/>
            </a:pPr>
            <a:r>
              <a:rPr lang="en-US" sz="1400" dirty="0">
                <a:solidFill>
                  <a:srgbClr val="E8EEFF"/>
                </a:solidFill>
                <a:latin typeface="Segoe UI" pitchFamily="34" charset="0"/>
                <a:ea typeface="Segoe UI" pitchFamily="34" charset="-122"/>
                <a:cs typeface="Segoe UI" pitchFamily="34" charset="-120"/>
              </a:rPr>
              <a:t>We built a simulator to create, see, detect and recover from deadlocks.</a:t>
            </a:r>
            <a:endParaRPr lang="en-US" sz="1400" dirty="0"/>
          </a:p>
        </p:txBody>
      </p:sp>
      <p:sp>
        <p:nvSpPr>
          <p:cNvPr id="15" name="Shape 12"/>
          <p:cNvSpPr/>
          <p:nvPr/>
        </p:nvSpPr>
        <p:spPr>
          <a:xfrm>
            <a:off x="6583680" y="1463040"/>
            <a:ext cx="5074920" cy="4663440"/>
          </a:xfrm>
          <a:prstGeom prst="roundRect">
            <a:avLst>
              <a:gd name="adj" fmla="val 1569"/>
            </a:avLst>
          </a:prstGeom>
          <a:solidFill>
            <a:srgbClr val="0F1A36"/>
          </a:solidFill>
          <a:ln w="12700">
            <a:solidFill>
              <a:srgbClr val="24396B"/>
            </a:solidFill>
            <a:prstDash val="solid"/>
          </a:ln>
        </p:spPr>
      </p:sp>
      <p:sp>
        <p:nvSpPr>
          <p:cNvPr id="16" name="Text 13"/>
          <p:cNvSpPr txBox="1"/>
          <p:nvPr/>
        </p:nvSpPr>
        <p:spPr>
          <a:xfrm>
            <a:off x="6766560" y="1572768"/>
            <a:ext cx="4572000" cy="274320"/>
          </a:xfrm>
          <a:prstGeom prst="rect">
            <a:avLst/>
          </a:prstGeom>
          <a:noFill/>
          <a:ln/>
        </p:spPr>
        <p:txBody>
          <a:bodyPr wrap="square" lIns="0" tIns="0" rIns="0" bIns="0" rtlCol="0" anchor="ctr"/>
          <a:lstStyle/>
          <a:p>
            <a:pPr indent="0" marL="0">
              <a:buNone/>
            </a:pPr>
            <a:r>
              <a:rPr lang="en-US" sz="1300" b="1" dirty="0">
                <a:solidFill>
                  <a:srgbClr val="93A4C8"/>
                </a:solidFill>
                <a:latin typeface="Segoe UI" pitchFamily="34" charset="0"/>
                <a:ea typeface="Segoe UI" pitchFamily="34" charset="-122"/>
                <a:cs typeface="Segoe UI" pitchFamily="34" charset="-120"/>
              </a:rPr>
              <a:t>Classic scenario (2 processes)</a:t>
            </a:r>
            <a:endParaRPr lang="en-US" sz="1300" dirty="0"/>
          </a:p>
        </p:txBody>
      </p:sp>
      <p:sp>
        <p:nvSpPr>
          <p:cNvPr id="17" name="Shape 14"/>
          <p:cNvSpPr/>
          <p:nvPr/>
        </p:nvSpPr>
        <p:spPr>
          <a:xfrm>
            <a:off x="9601200" y="1572768"/>
            <a:ext cx="1828800" cy="274320"/>
          </a:xfrm>
          <a:prstGeom prst="roundRect">
            <a:avLst>
              <a:gd name="adj" fmla="val 50000"/>
            </a:avLst>
          </a:prstGeom>
          <a:solidFill>
            <a:srgbClr val="142347"/>
          </a:solidFill>
          <a:ln w="12700">
            <a:solidFill>
              <a:srgbClr val="FF6B61"/>
            </a:solidFill>
            <a:prstDash val="solid"/>
          </a:ln>
        </p:spPr>
      </p:sp>
      <p:sp>
        <p:nvSpPr>
          <p:cNvPr id="18" name="Text 15"/>
          <p:cNvSpPr txBox="1"/>
          <p:nvPr/>
        </p:nvSpPr>
        <p:spPr>
          <a:xfrm>
            <a:off x="9601200" y="1572768"/>
            <a:ext cx="1828800" cy="274320"/>
          </a:xfrm>
          <a:prstGeom prst="rect">
            <a:avLst/>
          </a:prstGeom>
          <a:noFill/>
          <a:ln/>
        </p:spPr>
        <p:txBody>
          <a:bodyPr wrap="square" lIns="0" tIns="0" rIns="0" bIns="0" rtlCol="0" anchor="ctr"/>
          <a:lstStyle/>
          <a:p>
            <a:pPr algn="ctr" indent="0" marL="0">
              <a:buNone/>
            </a:pPr>
            <a:r>
              <a:rPr lang="en-US" sz="1000" b="1" dirty="0">
                <a:solidFill>
                  <a:srgbClr val="FF6B61"/>
                </a:solidFill>
                <a:latin typeface="Segoe UI" pitchFamily="34" charset="0"/>
                <a:ea typeface="Segoe UI" pitchFamily="34" charset="-122"/>
                <a:cs typeface="Segoe UI" pitchFamily="34" charset="-120"/>
              </a:rPr>
              <a:t>DEADLOCK: P1, P2</a:t>
            </a:r>
            <a:endParaRPr lang="en-US" sz="1000" dirty="0"/>
          </a:p>
        </p:txBody>
      </p:sp>
      <p:sp>
        <p:nvSpPr>
          <p:cNvPr id="19" name="Shape 16"/>
          <p:cNvSpPr/>
          <p:nvPr/>
        </p:nvSpPr>
        <p:spPr>
          <a:xfrm flipV="1">
            <a:off x="8321040" y="2743200"/>
            <a:ext cx="0" cy="1783080"/>
          </a:xfrm>
          <a:prstGeom prst="line">
            <a:avLst/>
          </a:prstGeom>
          <a:noFill/>
          <a:ln w="25400">
            <a:solidFill>
              <a:srgbClr val="FF6B61"/>
            </a:solidFill>
            <a:prstDash val="solid"/>
            <a:tailEnd type="triangle"/>
          </a:ln>
        </p:spPr>
      </p:sp>
      <p:sp>
        <p:nvSpPr>
          <p:cNvPr id="20" name="Shape 17"/>
          <p:cNvSpPr/>
          <p:nvPr/>
        </p:nvSpPr>
        <p:spPr>
          <a:xfrm flipV="1">
            <a:off x="9921240" y="2743200"/>
            <a:ext cx="0" cy="1783080"/>
          </a:xfrm>
          <a:prstGeom prst="line">
            <a:avLst/>
          </a:prstGeom>
          <a:noFill/>
          <a:ln w="25400">
            <a:solidFill>
              <a:srgbClr val="FF6B61"/>
            </a:solidFill>
            <a:prstDash val="solid"/>
            <a:tailEnd type="triangle"/>
          </a:ln>
        </p:spPr>
      </p:sp>
      <p:sp>
        <p:nvSpPr>
          <p:cNvPr id="21" name="Shape 18"/>
          <p:cNvSpPr/>
          <p:nvPr/>
        </p:nvSpPr>
        <p:spPr>
          <a:xfrm>
            <a:off x="8536352" y="2682371"/>
            <a:ext cx="1169575" cy="1904737"/>
          </a:xfrm>
          <a:prstGeom prst="line">
            <a:avLst/>
          </a:prstGeom>
          <a:noFill/>
          <a:ln w="25400">
            <a:solidFill>
              <a:srgbClr val="FF6B61"/>
            </a:solidFill>
            <a:prstDash val="dash"/>
            <a:tailEnd type="triangle"/>
          </a:ln>
        </p:spPr>
      </p:sp>
      <p:sp>
        <p:nvSpPr>
          <p:cNvPr id="22" name="Shape 19"/>
          <p:cNvSpPr/>
          <p:nvPr/>
        </p:nvSpPr>
        <p:spPr>
          <a:xfrm flipH="1">
            <a:off x="8536352" y="2682371"/>
            <a:ext cx="1169575" cy="1904737"/>
          </a:xfrm>
          <a:prstGeom prst="line">
            <a:avLst/>
          </a:prstGeom>
          <a:noFill/>
          <a:ln w="25400">
            <a:solidFill>
              <a:srgbClr val="FF6B61"/>
            </a:solidFill>
            <a:prstDash val="dash"/>
            <a:tailEnd type="triangle"/>
          </a:ln>
        </p:spPr>
      </p:sp>
      <p:sp>
        <p:nvSpPr>
          <p:cNvPr id="23" name="Shape 20"/>
          <p:cNvSpPr/>
          <p:nvPr/>
        </p:nvSpPr>
        <p:spPr>
          <a:xfrm>
            <a:off x="7991856" y="2002536"/>
            <a:ext cx="658368" cy="658368"/>
          </a:xfrm>
          <a:prstGeom prst="ellipse">
            <a:avLst/>
          </a:prstGeom>
          <a:solidFill>
            <a:srgbClr val="142347"/>
          </a:solidFill>
          <a:ln w="31750">
            <a:solidFill>
              <a:srgbClr val="FF6B61"/>
            </a:solidFill>
            <a:prstDash val="solid"/>
          </a:ln>
        </p:spPr>
      </p:sp>
      <p:sp>
        <p:nvSpPr>
          <p:cNvPr id="24" name="Shape 21"/>
          <p:cNvSpPr/>
          <p:nvPr/>
        </p:nvSpPr>
        <p:spPr>
          <a:xfrm>
            <a:off x="9592056" y="2002536"/>
            <a:ext cx="658368" cy="658368"/>
          </a:xfrm>
          <a:prstGeom prst="ellipse">
            <a:avLst/>
          </a:prstGeom>
          <a:solidFill>
            <a:srgbClr val="142347"/>
          </a:solidFill>
          <a:ln w="31750">
            <a:solidFill>
              <a:srgbClr val="FF6B61"/>
            </a:solidFill>
            <a:prstDash val="solid"/>
          </a:ln>
        </p:spPr>
      </p:sp>
      <p:sp>
        <p:nvSpPr>
          <p:cNvPr id="25" name="Text 22"/>
          <p:cNvSpPr txBox="1"/>
          <p:nvPr/>
        </p:nvSpPr>
        <p:spPr>
          <a:xfrm>
            <a:off x="7991856" y="200253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P1</a:t>
            </a:r>
            <a:endParaRPr lang="en-US" sz="1300" dirty="0"/>
          </a:p>
        </p:txBody>
      </p:sp>
      <p:sp>
        <p:nvSpPr>
          <p:cNvPr id="26" name="Text 23"/>
          <p:cNvSpPr txBox="1"/>
          <p:nvPr/>
        </p:nvSpPr>
        <p:spPr>
          <a:xfrm>
            <a:off x="9592056" y="200253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P2</a:t>
            </a:r>
            <a:endParaRPr lang="en-US" sz="1300" dirty="0"/>
          </a:p>
        </p:txBody>
      </p:sp>
      <p:sp>
        <p:nvSpPr>
          <p:cNvPr id="27" name="Shape 24"/>
          <p:cNvSpPr/>
          <p:nvPr/>
        </p:nvSpPr>
        <p:spPr>
          <a:xfrm>
            <a:off x="8001000" y="4617720"/>
            <a:ext cx="640080" cy="640080"/>
          </a:xfrm>
          <a:prstGeom prst="roundRect">
            <a:avLst>
              <a:gd name="adj" fmla="val 8571"/>
            </a:avLst>
          </a:prstGeom>
          <a:solidFill>
            <a:srgbClr val="142347"/>
          </a:solidFill>
          <a:ln w="19050">
            <a:solidFill>
              <a:srgbClr val="E8EEFF"/>
            </a:solidFill>
            <a:prstDash val="solid"/>
          </a:ln>
        </p:spPr>
      </p:sp>
      <p:sp>
        <p:nvSpPr>
          <p:cNvPr id="28" name="Text 25"/>
          <p:cNvSpPr txBox="1"/>
          <p:nvPr/>
        </p:nvSpPr>
        <p:spPr>
          <a:xfrm>
            <a:off x="8001000" y="461772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R1</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29" name="Shape 26"/>
          <p:cNvSpPr/>
          <p:nvPr/>
        </p:nvSpPr>
        <p:spPr>
          <a:xfrm>
            <a:off x="9601200" y="4617720"/>
            <a:ext cx="640080" cy="640080"/>
          </a:xfrm>
          <a:prstGeom prst="roundRect">
            <a:avLst>
              <a:gd name="adj" fmla="val 8571"/>
            </a:avLst>
          </a:prstGeom>
          <a:solidFill>
            <a:srgbClr val="142347"/>
          </a:solidFill>
          <a:ln w="19050">
            <a:solidFill>
              <a:srgbClr val="E8EEFF"/>
            </a:solidFill>
            <a:prstDash val="solid"/>
          </a:ln>
        </p:spPr>
      </p:sp>
      <p:sp>
        <p:nvSpPr>
          <p:cNvPr id="30" name="Text 27"/>
          <p:cNvSpPr txBox="1"/>
          <p:nvPr/>
        </p:nvSpPr>
        <p:spPr>
          <a:xfrm>
            <a:off x="9601200" y="461772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R2</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31" name="Shape 28"/>
          <p:cNvSpPr/>
          <p:nvPr/>
        </p:nvSpPr>
        <p:spPr>
          <a:xfrm>
            <a:off x="6903720" y="5779008"/>
            <a:ext cx="411480" cy="0"/>
          </a:xfrm>
          <a:prstGeom prst="line">
            <a:avLst/>
          </a:prstGeom>
          <a:noFill/>
          <a:ln w="25400">
            <a:solidFill>
              <a:srgbClr val="93A4C8"/>
            </a:solidFill>
            <a:prstDash val="solid"/>
            <a:tailEnd type="triangle"/>
          </a:ln>
        </p:spPr>
      </p:sp>
      <p:sp>
        <p:nvSpPr>
          <p:cNvPr id="32" name="Text 29"/>
          <p:cNvSpPr txBox="1"/>
          <p:nvPr/>
        </p:nvSpPr>
        <p:spPr>
          <a:xfrm>
            <a:off x="7379208" y="5669280"/>
            <a:ext cx="82296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held by</a:t>
            </a:r>
            <a:endParaRPr lang="en-US" sz="1000" dirty="0"/>
          </a:p>
        </p:txBody>
      </p:sp>
      <p:sp>
        <p:nvSpPr>
          <p:cNvPr id="33" name="Shape 30"/>
          <p:cNvSpPr/>
          <p:nvPr/>
        </p:nvSpPr>
        <p:spPr>
          <a:xfrm>
            <a:off x="8275320" y="5779008"/>
            <a:ext cx="411480" cy="0"/>
          </a:xfrm>
          <a:prstGeom prst="line">
            <a:avLst/>
          </a:prstGeom>
          <a:noFill/>
          <a:ln w="25400">
            <a:solidFill>
              <a:srgbClr val="93A4C8"/>
            </a:solidFill>
            <a:prstDash val="dash"/>
            <a:tailEnd type="triangle"/>
          </a:ln>
        </p:spPr>
      </p:sp>
      <p:sp>
        <p:nvSpPr>
          <p:cNvPr id="34" name="Text 31"/>
          <p:cNvSpPr txBox="1"/>
          <p:nvPr/>
        </p:nvSpPr>
        <p:spPr>
          <a:xfrm>
            <a:off x="8750808" y="5669280"/>
            <a:ext cx="100584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waiting for</a:t>
            </a:r>
            <a:endParaRPr lang="en-US" sz="1000" dirty="0"/>
          </a:p>
        </p:txBody>
      </p:sp>
      <p:sp>
        <p:nvSpPr>
          <p:cNvPr id="35" name="Shape 32"/>
          <p:cNvSpPr/>
          <p:nvPr/>
        </p:nvSpPr>
        <p:spPr>
          <a:xfrm>
            <a:off x="9829800" y="5696712"/>
            <a:ext cx="182880" cy="182880"/>
          </a:xfrm>
          <a:prstGeom prst="ellipse">
            <a:avLst/>
          </a:prstGeom>
          <a:solidFill>
            <a:srgbClr val="142347"/>
          </a:solidFill>
          <a:ln w="25400">
            <a:solidFill>
              <a:srgbClr val="FF6B61"/>
            </a:solidFill>
            <a:prstDash val="solid"/>
          </a:ln>
        </p:spPr>
      </p:sp>
      <p:sp>
        <p:nvSpPr>
          <p:cNvPr id="36" name="Text 33"/>
          <p:cNvSpPr txBox="1"/>
          <p:nvPr/>
        </p:nvSpPr>
        <p:spPr>
          <a:xfrm>
            <a:off x="10076688" y="5669280"/>
            <a:ext cx="914400" cy="228600"/>
          </a:xfrm>
          <a:prstGeom prst="rect">
            <a:avLst/>
          </a:prstGeom>
          <a:noFill/>
          <a:ln/>
        </p:spPr>
        <p:txBody>
          <a:bodyPr wrap="square" lIns="0" tIns="0" rIns="0" bIns="0" rtlCol="0" anchor="ctr"/>
          <a:lstStyle/>
          <a:p>
            <a:pPr indent="0" marL="0">
              <a:buNone/>
            </a:pPr>
            <a:r>
              <a:rPr lang="en-US" sz="1000" dirty="0">
                <a:solidFill>
                  <a:srgbClr val="93A4C8"/>
                </a:solidFill>
                <a:latin typeface="Segoe UI" pitchFamily="34" charset="0"/>
                <a:ea typeface="Segoe UI" pitchFamily="34" charset="-122"/>
                <a:cs typeface="Segoe UI" pitchFamily="34" charset="-120"/>
              </a:rPr>
              <a:t>deadlocked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02  OBJECTIVES</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Objectives and OS Concepts</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3 / 8</a:t>
            </a:r>
            <a:endParaRPr lang="en-US" sz="900" dirty="0"/>
          </a:p>
        </p:txBody>
      </p:sp>
      <p:sp>
        <p:nvSpPr>
          <p:cNvPr id="9" name="Text 6"/>
          <p:cNvSpPr txBox="1"/>
          <p:nvPr/>
        </p:nvSpPr>
        <p:spPr>
          <a:xfrm>
            <a:off x="548640" y="1417320"/>
            <a:ext cx="4572000" cy="320040"/>
          </a:xfrm>
          <a:prstGeom prst="rect">
            <a:avLst/>
          </a:prstGeom>
          <a:noFill/>
          <a:ln/>
        </p:spPr>
        <p:txBody>
          <a:bodyPr wrap="square" lIns="0" tIns="0" rIns="0" bIns="0" rtlCol="0" anchor="ctr"/>
          <a:lstStyle/>
          <a:p>
            <a:pPr indent="0" marL="0">
              <a:buNone/>
            </a:pPr>
            <a:r>
              <a:rPr lang="en-US" sz="1800" b="1" dirty="0">
                <a:solidFill>
                  <a:srgbClr val="22D3EE"/>
                </a:solidFill>
                <a:latin typeface="Segoe UI" pitchFamily="34" charset="0"/>
                <a:ea typeface="Segoe UI" pitchFamily="34" charset="-122"/>
                <a:cs typeface="Segoe UI" pitchFamily="34" charset="-120"/>
              </a:rPr>
              <a:t>Project objectives</a:t>
            </a:r>
            <a:endParaRPr lang="en-US" sz="1800" dirty="0"/>
          </a:p>
        </p:txBody>
      </p:sp>
      <p:sp>
        <p:nvSpPr>
          <p:cNvPr id="10" name="Shape 7"/>
          <p:cNvSpPr/>
          <p:nvPr/>
        </p:nvSpPr>
        <p:spPr>
          <a:xfrm>
            <a:off x="548640" y="1828800"/>
            <a:ext cx="4937760" cy="731520"/>
          </a:xfrm>
          <a:prstGeom prst="roundRect">
            <a:avLst>
              <a:gd name="adj" fmla="val 10000"/>
            </a:avLst>
          </a:prstGeom>
          <a:solidFill>
            <a:srgbClr val="0F1A36"/>
          </a:solidFill>
          <a:ln w="12700">
            <a:solidFill>
              <a:srgbClr val="24396B"/>
            </a:solidFill>
            <a:prstDash val="solid"/>
          </a:ln>
        </p:spPr>
      </p:sp>
      <p:sp>
        <p:nvSpPr>
          <p:cNvPr id="11" name="Shape 8"/>
          <p:cNvSpPr/>
          <p:nvPr/>
        </p:nvSpPr>
        <p:spPr>
          <a:xfrm>
            <a:off x="685800" y="2011680"/>
            <a:ext cx="365760" cy="365760"/>
          </a:xfrm>
          <a:prstGeom prst="ellipse">
            <a:avLst/>
          </a:prstGeom>
          <a:solidFill>
            <a:srgbClr val="3B82F6"/>
          </a:solidFill>
          <a:ln w="12700">
            <a:solidFill>
              <a:srgbClr val="3B82F6"/>
            </a:solidFill>
            <a:prstDash val="solid"/>
          </a:ln>
        </p:spPr>
      </p:sp>
      <p:sp>
        <p:nvSpPr>
          <p:cNvPr id="12" name="Text 9"/>
          <p:cNvSpPr txBox="1"/>
          <p:nvPr/>
        </p:nvSpPr>
        <p:spPr>
          <a:xfrm>
            <a:off x="685800"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13" name="Text 10"/>
          <p:cNvSpPr txBox="1"/>
          <p:nvPr/>
        </p:nvSpPr>
        <p:spPr>
          <a:xfrm>
            <a:off x="1188720" y="1828800"/>
            <a:ext cx="4206240" cy="73152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Simulate</a:t>
            </a:r>
            <a:endParaRPr lang="en-US" sz="1400" dirty="0"/>
          </a:p>
          <a:p>
            <a:pPr indent="0" marL="0">
              <a:buNone/>
            </a:pPr>
            <a:r>
              <a:rPr lang="en-US" sz="1100" dirty="0">
                <a:solidFill>
                  <a:srgbClr val="93A4C8"/>
                </a:solidFill>
                <a:latin typeface="Segoe UI" pitchFamily="34" charset="0"/>
                <a:ea typeface="Segoe UI" pitchFamily="34" charset="-122"/>
                <a:cs typeface="Segoe UI" pitchFamily="34" charset="-120"/>
              </a:rPr>
              <a:t>Create processes and resources, request and release them</a:t>
            </a:r>
            <a:endParaRPr lang="en-US" sz="1400" dirty="0"/>
          </a:p>
        </p:txBody>
      </p:sp>
      <p:sp>
        <p:nvSpPr>
          <p:cNvPr id="14" name="Shape 11"/>
          <p:cNvSpPr/>
          <p:nvPr/>
        </p:nvSpPr>
        <p:spPr>
          <a:xfrm>
            <a:off x="548640" y="2670048"/>
            <a:ext cx="4937760" cy="731520"/>
          </a:xfrm>
          <a:prstGeom prst="roundRect">
            <a:avLst>
              <a:gd name="adj" fmla="val 10000"/>
            </a:avLst>
          </a:prstGeom>
          <a:solidFill>
            <a:srgbClr val="0F1A36"/>
          </a:solidFill>
          <a:ln w="12700">
            <a:solidFill>
              <a:srgbClr val="24396B"/>
            </a:solidFill>
            <a:prstDash val="solid"/>
          </a:ln>
        </p:spPr>
      </p:sp>
      <p:sp>
        <p:nvSpPr>
          <p:cNvPr id="15" name="Shape 12"/>
          <p:cNvSpPr/>
          <p:nvPr/>
        </p:nvSpPr>
        <p:spPr>
          <a:xfrm>
            <a:off x="685800" y="2852928"/>
            <a:ext cx="365760" cy="365760"/>
          </a:xfrm>
          <a:prstGeom prst="ellipse">
            <a:avLst/>
          </a:prstGeom>
          <a:solidFill>
            <a:srgbClr val="3B82F6"/>
          </a:solidFill>
          <a:ln w="12700">
            <a:solidFill>
              <a:srgbClr val="3B82F6"/>
            </a:solidFill>
            <a:prstDash val="solid"/>
          </a:ln>
        </p:spPr>
      </p:sp>
      <p:sp>
        <p:nvSpPr>
          <p:cNvPr id="16" name="Text 13"/>
          <p:cNvSpPr txBox="1"/>
          <p:nvPr/>
        </p:nvSpPr>
        <p:spPr>
          <a:xfrm>
            <a:off x="685800" y="28529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17" name="Text 14"/>
          <p:cNvSpPr txBox="1"/>
          <p:nvPr/>
        </p:nvSpPr>
        <p:spPr>
          <a:xfrm>
            <a:off x="1188720" y="2670048"/>
            <a:ext cx="4206240" cy="73152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Visualize</a:t>
            </a:r>
            <a:endParaRPr lang="en-US" sz="1400" dirty="0"/>
          </a:p>
          <a:p>
            <a:pPr indent="0" marL="0">
              <a:buNone/>
            </a:pPr>
            <a:r>
              <a:rPr lang="en-US" sz="1100" dirty="0">
                <a:solidFill>
                  <a:srgbClr val="93A4C8"/>
                </a:solidFill>
                <a:latin typeface="Segoe UI" pitchFamily="34" charset="0"/>
                <a:ea typeface="Segoe UI" pitchFamily="34" charset="-122"/>
                <a:cs typeface="Segoe UI" pitchFamily="34" charset="-120"/>
              </a:rPr>
              <a:t>Draw a live resource allocation graph; deadlocked processes turn red</a:t>
            </a:r>
            <a:endParaRPr lang="en-US" sz="1400" dirty="0"/>
          </a:p>
        </p:txBody>
      </p:sp>
      <p:sp>
        <p:nvSpPr>
          <p:cNvPr id="18" name="Shape 15"/>
          <p:cNvSpPr/>
          <p:nvPr/>
        </p:nvSpPr>
        <p:spPr>
          <a:xfrm>
            <a:off x="548640" y="3511296"/>
            <a:ext cx="4937760" cy="731520"/>
          </a:xfrm>
          <a:prstGeom prst="roundRect">
            <a:avLst>
              <a:gd name="adj" fmla="val 10000"/>
            </a:avLst>
          </a:prstGeom>
          <a:solidFill>
            <a:srgbClr val="0F1A36"/>
          </a:solidFill>
          <a:ln w="12700">
            <a:solidFill>
              <a:srgbClr val="24396B"/>
            </a:solidFill>
            <a:prstDash val="solid"/>
          </a:ln>
        </p:spPr>
      </p:sp>
      <p:sp>
        <p:nvSpPr>
          <p:cNvPr id="19" name="Shape 16"/>
          <p:cNvSpPr/>
          <p:nvPr/>
        </p:nvSpPr>
        <p:spPr>
          <a:xfrm>
            <a:off x="685800" y="3694176"/>
            <a:ext cx="365760" cy="365760"/>
          </a:xfrm>
          <a:prstGeom prst="ellipse">
            <a:avLst/>
          </a:prstGeom>
          <a:solidFill>
            <a:srgbClr val="3B82F6"/>
          </a:solidFill>
          <a:ln w="12700">
            <a:solidFill>
              <a:srgbClr val="3B82F6"/>
            </a:solidFill>
            <a:prstDash val="solid"/>
          </a:ln>
        </p:spPr>
      </p:sp>
      <p:sp>
        <p:nvSpPr>
          <p:cNvPr id="20" name="Text 17"/>
          <p:cNvSpPr txBox="1"/>
          <p:nvPr/>
        </p:nvSpPr>
        <p:spPr>
          <a:xfrm>
            <a:off x="685800" y="369417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21" name="Text 18"/>
          <p:cNvSpPr txBox="1"/>
          <p:nvPr/>
        </p:nvSpPr>
        <p:spPr>
          <a:xfrm>
            <a:off x="1188720" y="3511296"/>
            <a:ext cx="4206240" cy="73152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Detect</a:t>
            </a:r>
            <a:endParaRPr lang="en-US" sz="1400" dirty="0"/>
          </a:p>
          <a:p>
            <a:pPr indent="0" marL="0">
              <a:buNone/>
            </a:pPr>
            <a:r>
              <a:rPr lang="en-US" sz="1100" dirty="0">
                <a:solidFill>
                  <a:srgbClr val="93A4C8"/>
                </a:solidFill>
                <a:latin typeface="Segoe UI" pitchFamily="34" charset="0"/>
                <a:ea typeface="Segoe UI" pitchFamily="34" charset="-122"/>
                <a:cs typeface="Segoe UI" pitchFamily="34" charset="-120"/>
              </a:rPr>
              <a:t>Find deadlocks, including resources with multiple instances</a:t>
            </a:r>
            <a:endParaRPr lang="en-US" sz="1400" dirty="0"/>
          </a:p>
        </p:txBody>
      </p:sp>
      <p:sp>
        <p:nvSpPr>
          <p:cNvPr id="22" name="Shape 19"/>
          <p:cNvSpPr/>
          <p:nvPr/>
        </p:nvSpPr>
        <p:spPr>
          <a:xfrm>
            <a:off x="548640" y="4352544"/>
            <a:ext cx="4937760" cy="731520"/>
          </a:xfrm>
          <a:prstGeom prst="roundRect">
            <a:avLst>
              <a:gd name="adj" fmla="val 10000"/>
            </a:avLst>
          </a:prstGeom>
          <a:solidFill>
            <a:srgbClr val="0F1A36"/>
          </a:solidFill>
          <a:ln w="12700">
            <a:solidFill>
              <a:srgbClr val="24396B"/>
            </a:solidFill>
            <a:prstDash val="solid"/>
          </a:ln>
        </p:spPr>
      </p:sp>
      <p:sp>
        <p:nvSpPr>
          <p:cNvPr id="23" name="Shape 20"/>
          <p:cNvSpPr/>
          <p:nvPr/>
        </p:nvSpPr>
        <p:spPr>
          <a:xfrm>
            <a:off x="685800" y="4535424"/>
            <a:ext cx="365760" cy="365760"/>
          </a:xfrm>
          <a:prstGeom prst="ellipse">
            <a:avLst/>
          </a:prstGeom>
          <a:solidFill>
            <a:srgbClr val="3B82F6"/>
          </a:solidFill>
          <a:ln w="12700">
            <a:solidFill>
              <a:srgbClr val="3B82F6"/>
            </a:solidFill>
            <a:prstDash val="solid"/>
          </a:ln>
        </p:spPr>
      </p:sp>
      <p:sp>
        <p:nvSpPr>
          <p:cNvPr id="24" name="Text 21"/>
          <p:cNvSpPr txBox="1"/>
          <p:nvPr/>
        </p:nvSpPr>
        <p:spPr>
          <a:xfrm>
            <a:off x="685800" y="45354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25" name="Text 22"/>
          <p:cNvSpPr txBox="1"/>
          <p:nvPr/>
        </p:nvSpPr>
        <p:spPr>
          <a:xfrm>
            <a:off x="1188720" y="4352544"/>
            <a:ext cx="4206240" cy="73152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Recover</a:t>
            </a:r>
            <a:endParaRPr lang="en-US" sz="1400" dirty="0"/>
          </a:p>
          <a:p>
            <a:pPr indent="0" marL="0">
              <a:buNone/>
            </a:pPr>
            <a:r>
              <a:rPr lang="en-US" sz="1100" dirty="0">
                <a:solidFill>
                  <a:srgbClr val="93A4C8"/>
                </a:solidFill>
                <a:latin typeface="Segoe UI" pitchFamily="34" charset="0"/>
                <a:ea typeface="Segoe UI" pitchFamily="34" charset="-122"/>
                <a:cs typeface="Segoe UI" pitchFamily="34" charset="-120"/>
              </a:rPr>
              <a:t>Kill-all, kill-one, preempt + rollback, or pick the victim yourself</a:t>
            </a:r>
            <a:endParaRPr lang="en-US" sz="1400" dirty="0"/>
          </a:p>
        </p:txBody>
      </p:sp>
      <p:sp>
        <p:nvSpPr>
          <p:cNvPr id="26" name="Shape 23"/>
          <p:cNvSpPr/>
          <p:nvPr/>
        </p:nvSpPr>
        <p:spPr>
          <a:xfrm>
            <a:off x="548640" y="5193792"/>
            <a:ext cx="4937760" cy="731520"/>
          </a:xfrm>
          <a:prstGeom prst="roundRect">
            <a:avLst>
              <a:gd name="adj" fmla="val 10000"/>
            </a:avLst>
          </a:prstGeom>
          <a:solidFill>
            <a:srgbClr val="0F1A36"/>
          </a:solidFill>
          <a:ln w="12700">
            <a:solidFill>
              <a:srgbClr val="24396B"/>
            </a:solidFill>
            <a:prstDash val="solid"/>
          </a:ln>
        </p:spPr>
      </p:sp>
      <p:sp>
        <p:nvSpPr>
          <p:cNvPr id="27" name="Shape 24"/>
          <p:cNvSpPr/>
          <p:nvPr/>
        </p:nvSpPr>
        <p:spPr>
          <a:xfrm>
            <a:off x="685800" y="5376672"/>
            <a:ext cx="365760" cy="365760"/>
          </a:xfrm>
          <a:prstGeom prst="ellipse">
            <a:avLst/>
          </a:prstGeom>
          <a:solidFill>
            <a:srgbClr val="3B82F6"/>
          </a:solidFill>
          <a:ln w="12700">
            <a:solidFill>
              <a:srgbClr val="3B82F6"/>
            </a:solidFill>
            <a:prstDash val="solid"/>
          </a:ln>
        </p:spPr>
      </p:sp>
      <p:sp>
        <p:nvSpPr>
          <p:cNvPr id="28" name="Text 25"/>
          <p:cNvSpPr txBox="1"/>
          <p:nvPr/>
        </p:nvSpPr>
        <p:spPr>
          <a:xfrm>
            <a:off x="685800" y="53766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29" name="Text 26"/>
          <p:cNvSpPr txBox="1"/>
          <p:nvPr/>
        </p:nvSpPr>
        <p:spPr>
          <a:xfrm>
            <a:off x="1188720" y="5193792"/>
            <a:ext cx="4206240" cy="73152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Measure</a:t>
            </a:r>
            <a:endParaRPr lang="en-US" sz="1400" dirty="0"/>
          </a:p>
          <a:p>
            <a:pPr indent="0" marL="0">
              <a:buNone/>
            </a:pPr>
            <a:r>
              <a:rPr lang="en-US" sz="1100" dirty="0">
                <a:solidFill>
                  <a:srgbClr val="93A4C8"/>
                </a:solidFill>
                <a:latin typeface="Segoe UI" pitchFamily="34" charset="0"/>
                <a:ea typeface="Segoe UI" pitchFamily="34" charset="-122"/>
                <a:cs typeface="Segoe UI" pitchFamily="34" charset="-120"/>
              </a:rPr>
              <a:t>Show processes killed, rollbacks, detection rounds, resources freed</a:t>
            </a:r>
            <a:endParaRPr lang="en-US" sz="1400" dirty="0"/>
          </a:p>
        </p:txBody>
      </p:sp>
      <p:sp>
        <p:nvSpPr>
          <p:cNvPr id="30" name="Text 27"/>
          <p:cNvSpPr txBox="1"/>
          <p:nvPr/>
        </p:nvSpPr>
        <p:spPr>
          <a:xfrm>
            <a:off x="5943600" y="1417320"/>
            <a:ext cx="5486400" cy="320040"/>
          </a:xfrm>
          <a:prstGeom prst="rect">
            <a:avLst/>
          </a:prstGeom>
          <a:noFill/>
          <a:ln/>
        </p:spPr>
        <p:txBody>
          <a:bodyPr wrap="square" lIns="0" tIns="0" rIns="0" bIns="0" rtlCol="0" anchor="ctr"/>
          <a:lstStyle/>
          <a:p>
            <a:pPr indent="0" marL="0">
              <a:buNone/>
            </a:pPr>
            <a:r>
              <a:rPr lang="en-US" sz="1800" b="1" dirty="0">
                <a:solidFill>
                  <a:srgbClr val="22D3EE"/>
                </a:solidFill>
                <a:latin typeface="Segoe UI" pitchFamily="34" charset="0"/>
                <a:ea typeface="Segoe UI" pitchFamily="34" charset="-122"/>
                <a:cs typeface="Segoe UI" pitchFamily="34" charset="-120"/>
              </a:rPr>
              <a:t>Four necessary conditions for deadlock</a:t>
            </a:r>
            <a:endParaRPr lang="en-US" sz="1800" dirty="0"/>
          </a:p>
        </p:txBody>
      </p:sp>
      <p:sp>
        <p:nvSpPr>
          <p:cNvPr id="31" name="Shape 28"/>
          <p:cNvSpPr/>
          <p:nvPr/>
        </p:nvSpPr>
        <p:spPr>
          <a:xfrm>
            <a:off x="5943600" y="1828800"/>
            <a:ext cx="2788920" cy="2011680"/>
          </a:xfrm>
          <a:prstGeom prst="roundRect">
            <a:avLst>
              <a:gd name="adj" fmla="val 3636"/>
            </a:avLst>
          </a:prstGeom>
          <a:solidFill>
            <a:srgbClr val="0F1A36"/>
          </a:solidFill>
          <a:ln w="12700">
            <a:solidFill>
              <a:srgbClr val="24396B"/>
            </a:solidFill>
            <a:prstDash val="solid"/>
          </a:ln>
        </p:spPr>
      </p:sp>
      <p:sp>
        <p:nvSpPr>
          <p:cNvPr id="32" name="Shape 29"/>
          <p:cNvSpPr/>
          <p:nvPr/>
        </p:nvSpPr>
        <p:spPr>
          <a:xfrm>
            <a:off x="5943600" y="1965960"/>
            <a:ext cx="54864" cy="457200"/>
          </a:xfrm>
          <a:prstGeom prst="rect">
            <a:avLst/>
          </a:prstGeom>
          <a:solidFill>
            <a:srgbClr val="22D3EE"/>
          </a:solidFill>
          <a:ln w="12700">
            <a:solidFill>
              <a:srgbClr val="22D3EE"/>
            </a:solidFill>
            <a:prstDash val="solid"/>
          </a:ln>
        </p:spPr>
      </p:sp>
      <p:sp>
        <p:nvSpPr>
          <p:cNvPr id="33" name="Text 30"/>
          <p:cNvSpPr txBox="1"/>
          <p:nvPr/>
        </p:nvSpPr>
        <p:spPr>
          <a:xfrm>
            <a:off x="6126480" y="1938528"/>
            <a:ext cx="2514600" cy="45720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Mutual Exclusion</a:t>
            </a:r>
            <a:endParaRPr lang="en-US" sz="1400" dirty="0"/>
          </a:p>
        </p:txBody>
      </p:sp>
      <p:sp>
        <p:nvSpPr>
          <p:cNvPr id="34" name="Text 31"/>
          <p:cNvSpPr txBox="1"/>
          <p:nvPr/>
        </p:nvSpPr>
        <p:spPr>
          <a:xfrm>
            <a:off x="6126480" y="2468880"/>
            <a:ext cx="2468880" cy="731520"/>
          </a:xfrm>
          <a:prstGeom prst="rect">
            <a:avLst/>
          </a:prstGeom>
          <a:noFill/>
          <a:ln/>
        </p:spPr>
        <p:txBody>
          <a:bodyPr wrap="square" lIns="0" tIns="0" rIns="0" bIns="0" rtlCol="0" anchor="t"/>
          <a:lstStyle/>
          <a:p>
            <a:pPr indent="0" marL="0">
              <a:buNone/>
            </a:pPr>
            <a:r>
              <a:rPr lang="en-US" sz="1150" dirty="0">
                <a:solidFill>
                  <a:srgbClr val="E8EEFF"/>
                </a:solidFill>
                <a:latin typeface="Segoe UI" pitchFamily="34" charset="0"/>
                <a:ea typeface="Segoe UI" pitchFamily="34" charset="-122"/>
                <a:cs typeface="Segoe UI" pitchFamily="34" charset="-120"/>
              </a:rPr>
              <a:t>A resource unit can be used by only one process at a time.</a:t>
            </a:r>
            <a:endParaRPr lang="en-US" sz="1150" dirty="0"/>
          </a:p>
        </p:txBody>
      </p:sp>
      <p:sp>
        <p:nvSpPr>
          <p:cNvPr id="35" name="Text 32"/>
          <p:cNvSpPr txBox="1"/>
          <p:nvPr/>
        </p:nvSpPr>
        <p:spPr>
          <a:xfrm>
            <a:off x="6126480" y="3200400"/>
            <a:ext cx="2468880" cy="548640"/>
          </a:xfrm>
          <a:prstGeom prst="rect">
            <a:avLst/>
          </a:prstGeom>
          <a:noFill/>
          <a:ln/>
        </p:spPr>
        <p:txBody>
          <a:bodyPr wrap="square" lIns="0" tIns="0" rIns="0" bIns="0" rtlCol="0" anchor="t"/>
          <a:lstStyle/>
          <a:p>
            <a:pPr indent="0" marL="0">
              <a:buNone/>
            </a:pPr>
            <a:r>
              <a:rPr lang="en-US" sz="950" i="1" dirty="0">
                <a:solidFill>
                  <a:srgbClr val="93A4C8"/>
                </a:solidFill>
                <a:latin typeface="Segoe UI" pitchFamily="34" charset="0"/>
                <a:ea typeface="Segoe UI" pitchFamily="34" charset="-122"/>
                <a:cs typeface="Segoe UI" pitchFamily="34" charset="-120"/>
              </a:rPr>
              <a:t>Each resource has a fixed number of units</a:t>
            </a:r>
            <a:endParaRPr lang="en-US" sz="950" dirty="0"/>
          </a:p>
        </p:txBody>
      </p:sp>
      <p:sp>
        <p:nvSpPr>
          <p:cNvPr id="36" name="Shape 33"/>
          <p:cNvSpPr/>
          <p:nvPr/>
        </p:nvSpPr>
        <p:spPr>
          <a:xfrm>
            <a:off x="8869680" y="1828800"/>
            <a:ext cx="2788920" cy="2011680"/>
          </a:xfrm>
          <a:prstGeom prst="roundRect">
            <a:avLst>
              <a:gd name="adj" fmla="val 3636"/>
            </a:avLst>
          </a:prstGeom>
          <a:solidFill>
            <a:srgbClr val="0F1A36"/>
          </a:solidFill>
          <a:ln w="12700">
            <a:solidFill>
              <a:srgbClr val="24396B"/>
            </a:solidFill>
            <a:prstDash val="solid"/>
          </a:ln>
        </p:spPr>
      </p:sp>
      <p:sp>
        <p:nvSpPr>
          <p:cNvPr id="37" name="Shape 34"/>
          <p:cNvSpPr/>
          <p:nvPr/>
        </p:nvSpPr>
        <p:spPr>
          <a:xfrm>
            <a:off x="8869680" y="1965960"/>
            <a:ext cx="54864" cy="457200"/>
          </a:xfrm>
          <a:prstGeom prst="rect">
            <a:avLst/>
          </a:prstGeom>
          <a:solidFill>
            <a:srgbClr val="22D3EE"/>
          </a:solidFill>
          <a:ln w="12700">
            <a:solidFill>
              <a:srgbClr val="22D3EE"/>
            </a:solidFill>
            <a:prstDash val="solid"/>
          </a:ln>
        </p:spPr>
      </p:sp>
      <p:sp>
        <p:nvSpPr>
          <p:cNvPr id="38" name="Text 35"/>
          <p:cNvSpPr txBox="1"/>
          <p:nvPr/>
        </p:nvSpPr>
        <p:spPr>
          <a:xfrm>
            <a:off x="9052560" y="1938528"/>
            <a:ext cx="2514600" cy="45720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Hold and Wait</a:t>
            </a:r>
            <a:endParaRPr lang="en-US" sz="1400" dirty="0"/>
          </a:p>
        </p:txBody>
      </p:sp>
      <p:sp>
        <p:nvSpPr>
          <p:cNvPr id="39" name="Text 36"/>
          <p:cNvSpPr txBox="1"/>
          <p:nvPr/>
        </p:nvSpPr>
        <p:spPr>
          <a:xfrm>
            <a:off x="9052560" y="2468880"/>
            <a:ext cx="2468880" cy="731520"/>
          </a:xfrm>
          <a:prstGeom prst="rect">
            <a:avLst/>
          </a:prstGeom>
          <a:noFill/>
          <a:ln/>
        </p:spPr>
        <p:txBody>
          <a:bodyPr wrap="square" lIns="0" tIns="0" rIns="0" bIns="0" rtlCol="0" anchor="t"/>
          <a:lstStyle/>
          <a:p>
            <a:pPr indent="0" marL="0">
              <a:buNone/>
            </a:pPr>
            <a:r>
              <a:rPr lang="en-US" sz="1150" dirty="0">
                <a:solidFill>
                  <a:srgbClr val="E8EEFF"/>
                </a:solidFill>
                <a:latin typeface="Segoe UI" pitchFamily="34" charset="0"/>
                <a:ea typeface="Segoe UI" pitchFamily="34" charset="-122"/>
                <a:cs typeface="Segoe UI" pitchFamily="34" charset="-120"/>
              </a:rPr>
              <a:t>A process holds some resources while waiting for another.</a:t>
            </a:r>
            <a:endParaRPr lang="en-US" sz="1150" dirty="0"/>
          </a:p>
        </p:txBody>
      </p:sp>
      <p:sp>
        <p:nvSpPr>
          <p:cNvPr id="40" name="Text 37"/>
          <p:cNvSpPr txBox="1"/>
          <p:nvPr/>
        </p:nvSpPr>
        <p:spPr>
          <a:xfrm>
            <a:off x="9052560" y="3200400"/>
            <a:ext cx="2468880" cy="548640"/>
          </a:xfrm>
          <a:prstGeom prst="rect">
            <a:avLst/>
          </a:prstGeom>
          <a:noFill/>
          <a:ln/>
        </p:spPr>
        <p:txBody>
          <a:bodyPr wrap="square" lIns="0" tIns="0" rIns="0" bIns="0" rtlCol="0" anchor="t"/>
          <a:lstStyle/>
          <a:p>
            <a:pPr indent="0" marL="0">
              <a:buNone/>
            </a:pPr>
            <a:r>
              <a:rPr lang="en-US" sz="950" i="1" dirty="0">
                <a:solidFill>
                  <a:srgbClr val="93A4C8"/>
                </a:solidFill>
                <a:latin typeface="Segoe UI" pitchFamily="34" charset="0"/>
                <a:ea typeface="Segoe UI" pitchFamily="34" charset="-122"/>
                <a:cs typeface="Segoe UI" pitchFamily="34" charset="-120"/>
              </a:rPr>
              <a:t>Process state: held + wait</a:t>
            </a:r>
            <a:endParaRPr lang="en-US" sz="950" dirty="0"/>
          </a:p>
        </p:txBody>
      </p:sp>
      <p:sp>
        <p:nvSpPr>
          <p:cNvPr id="41" name="Shape 38"/>
          <p:cNvSpPr/>
          <p:nvPr/>
        </p:nvSpPr>
        <p:spPr>
          <a:xfrm>
            <a:off x="5943600" y="3977640"/>
            <a:ext cx="2788920" cy="2011680"/>
          </a:xfrm>
          <a:prstGeom prst="roundRect">
            <a:avLst>
              <a:gd name="adj" fmla="val 3636"/>
            </a:avLst>
          </a:prstGeom>
          <a:solidFill>
            <a:srgbClr val="0F1A36"/>
          </a:solidFill>
          <a:ln w="12700">
            <a:solidFill>
              <a:srgbClr val="24396B"/>
            </a:solidFill>
            <a:prstDash val="solid"/>
          </a:ln>
        </p:spPr>
      </p:sp>
      <p:sp>
        <p:nvSpPr>
          <p:cNvPr id="42" name="Shape 39"/>
          <p:cNvSpPr/>
          <p:nvPr/>
        </p:nvSpPr>
        <p:spPr>
          <a:xfrm>
            <a:off x="5943600" y="4114800"/>
            <a:ext cx="54864" cy="457200"/>
          </a:xfrm>
          <a:prstGeom prst="rect">
            <a:avLst/>
          </a:prstGeom>
          <a:solidFill>
            <a:srgbClr val="22D3EE"/>
          </a:solidFill>
          <a:ln w="12700">
            <a:solidFill>
              <a:srgbClr val="22D3EE"/>
            </a:solidFill>
            <a:prstDash val="solid"/>
          </a:ln>
        </p:spPr>
      </p:sp>
      <p:sp>
        <p:nvSpPr>
          <p:cNvPr id="43" name="Text 40"/>
          <p:cNvSpPr txBox="1"/>
          <p:nvPr/>
        </p:nvSpPr>
        <p:spPr>
          <a:xfrm>
            <a:off x="6126480" y="4087368"/>
            <a:ext cx="2514600" cy="45720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No Preemption</a:t>
            </a:r>
            <a:endParaRPr lang="en-US" sz="1400" dirty="0"/>
          </a:p>
        </p:txBody>
      </p:sp>
      <p:sp>
        <p:nvSpPr>
          <p:cNvPr id="44" name="Text 41"/>
          <p:cNvSpPr txBox="1"/>
          <p:nvPr/>
        </p:nvSpPr>
        <p:spPr>
          <a:xfrm>
            <a:off x="6126480" y="4617720"/>
            <a:ext cx="2468880" cy="731520"/>
          </a:xfrm>
          <a:prstGeom prst="rect">
            <a:avLst/>
          </a:prstGeom>
          <a:noFill/>
          <a:ln/>
        </p:spPr>
        <p:txBody>
          <a:bodyPr wrap="square" lIns="0" tIns="0" rIns="0" bIns="0" rtlCol="0" anchor="t"/>
          <a:lstStyle/>
          <a:p>
            <a:pPr indent="0" marL="0">
              <a:buNone/>
            </a:pPr>
            <a:r>
              <a:rPr lang="en-US" sz="1150" dirty="0">
                <a:solidFill>
                  <a:srgbClr val="E8EEFF"/>
                </a:solidFill>
                <a:latin typeface="Segoe UI" pitchFamily="34" charset="0"/>
                <a:ea typeface="Segoe UI" pitchFamily="34" charset="-122"/>
                <a:cs typeface="Segoe UI" pitchFamily="34" charset="-120"/>
              </a:rPr>
              <a:t>Resources cannot be forcibly taken away from a process.</a:t>
            </a:r>
            <a:endParaRPr lang="en-US" sz="1150" dirty="0"/>
          </a:p>
        </p:txBody>
      </p:sp>
      <p:sp>
        <p:nvSpPr>
          <p:cNvPr id="45" name="Text 42"/>
          <p:cNvSpPr txBox="1"/>
          <p:nvPr/>
        </p:nvSpPr>
        <p:spPr>
          <a:xfrm>
            <a:off x="6126480" y="5349240"/>
            <a:ext cx="2468880" cy="548640"/>
          </a:xfrm>
          <a:prstGeom prst="rect">
            <a:avLst/>
          </a:prstGeom>
          <a:noFill/>
          <a:ln/>
        </p:spPr>
        <p:txBody>
          <a:bodyPr wrap="square" lIns="0" tIns="0" rIns="0" bIns="0" rtlCol="0" anchor="t"/>
          <a:lstStyle/>
          <a:p>
            <a:pPr indent="0" marL="0">
              <a:buNone/>
            </a:pPr>
            <a:r>
              <a:rPr lang="en-US" sz="950" i="1" dirty="0">
                <a:solidFill>
                  <a:srgbClr val="93A4C8"/>
                </a:solidFill>
                <a:latin typeface="Segoe UI" pitchFamily="34" charset="0"/>
                <a:ea typeface="Segoe UI" pitchFamily="34" charset="-122"/>
                <a:cs typeface="Segoe UI" pitchFamily="34" charset="-120"/>
              </a:rPr>
              <a:t>Freed only by release, kill or rollback</a:t>
            </a:r>
            <a:endParaRPr lang="en-US" sz="950" dirty="0"/>
          </a:p>
        </p:txBody>
      </p:sp>
      <p:sp>
        <p:nvSpPr>
          <p:cNvPr id="46" name="Shape 43"/>
          <p:cNvSpPr/>
          <p:nvPr/>
        </p:nvSpPr>
        <p:spPr>
          <a:xfrm>
            <a:off x="8869680" y="3977640"/>
            <a:ext cx="2788920" cy="2011680"/>
          </a:xfrm>
          <a:prstGeom prst="roundRect">
            <a:avLst>
              <a:gd name="adj" fmla="val 3636"/>
            </a:avLst>
          </a:prstGeom>
          <a:solidFill>
            <a:srgbClr val="0F1A36"/>
          </a:solidFill>
          <a:ln w="12700">
            <a:solidFill>
              <a:srgbClr val="24396B"/>
            </a:solidFill>
            <a:prstDash val="solid"/>
          </a:ln>
        </p:spPr>
      </p:sp>
      <p:sp>
        <p:nvSpPr>
          <p:cNvPr id="47" name="Shape 44"/>
          <p:cNvSpPr/>
          <p:nvPr/>
        </p:nvSpPr>
        <p:spPr>
          <a:xfrm>
            <a:off x="8869680" y="4114800"/>
            <a:ext cx="54864" cy="457200"/>
          </a:xfrm>
          <a:prstGeom prst="rect">
            <a:avLst/>
          </a:prstGeom>
          <a:solidFill>
            <a:srgbClr val="22D3EE"/>
          </a:solidFill>
          <a:ln w="12700">
            <a:solidFill>
              <a:srgbClr val="22D3EE"/>
            </a:solidFill>
            <a:prstDash val="solid"/>
          </a:ln>
        </p:spPr>
      </p:sp>
      <p:sp>
        <p:nvSpPr>
          <p:cNvPr id="48" name="Text 45"/>
          <p:cNvSpPr txBox="1"/>
          <p:nvPr/>
        </p:nvSpPr>
        <p:spPr>
          <a:xfrm>
            <a:off x="9052560" y="4087368"/>
            <a:ext cx="2514600" cy="457200"/>
          </a:xfrm>
          <a:prstGeom prst="rect">
            <a:avLst/>
          </a:prstGeom>
          <a:noFill/>
          <a:ln/>
        </p:spPr>
        <p:txBody>
          <a:bodyPr wrap="square" lIns="0" tIns="0" rIns="0" bIns="0" rtlCol="0" anchor="ctr"/>
          <a:lstStyle/>
          <a:p>
            <a:pPr indent="0" marL="0">
              <a:buNone/>
            </a:pPr>
            <a:r>
              <a:rPr lang="en-US" sz="1400" b="1" dirty="0">
                <a:solidFill>
                  <a:srgbClr val="E8EEFF"/>
                </a:solidFill>
                <a:latin typeface="Segoe UI" pitchFamily="34" charset="0"/>
                <a:ea typeface="Segoe UI" pitchFamily="34" charset="-122"/>
                <a:cs typeface="Segoe UI" pitchFamily="34" charset="-120"/>
              </a:rPr>
              <a:t>Circular Wait</a:t>
            </a:r>
            <a:endParaRPr lang="en-US" sz="1400" dirty="0"/>
          </a:p>
        </p:txBody>
      </p:sp>
      <p:sp>
        <p:nvSpPr>
          <p:cNvPr id="49" name="Text 46"/>
          <p:cNvSpPr txBox="1"/>
          <p:nvPr/>
        </p:nvSpPr>
        <p:spPr>
          <a:xfrm>
            <a:off x="9052560" y="4617720"/>
            <a:ext cx="2468880" cy="731520"/>
          </a:xfrm>
          <a:prstGeom prst="rect">
            <a:avLst/>
          </a:prstGeom>
          <a:noFill/>
          <a:ln/>
        </p:spPr>
        <p:txBody>
          <a:bodyPr wrap="square" lIns="0" tIns="0" rIns="0" bIns="0" rtlCol="0" anchor="t"/>
          <a:lstStyle/>
          <a:p>
            <a:pPr indent="0" marL="0">
              <a:buNone/>
            </a:pPr>
            <a:r>
              <a:rPr lang="en-US" sz="1150" dirty="0">
                <a:solidFill>
                  <a:srgbClr val="E8EEFF"/>
                </a:solidFill>
                <a:latin typeface="Segoe UI" pitchFamily="34" charset="0"/>
                <a:ea typeface="Segoe UI" pitchFamily="34" charset="-122"/>
                <a:cs typeface="Segoe UI" pitchFamily="34" charset="-120"/>
              </a:rPr>
              <a:t>A closed chain: P1 waits for P2, P2 waits for P1 ...</a:t>
            </a:r>
            <a:endParaRPr lang="en-US" sz="1150" dirty="0"/>
          </a:p>
        </p:txBody>
      </p:sp>
      <p:sp>
        <p:nvSpPr>
          <p:cNvPr id="50" name="Text 47"/>
          <p:cNvSpPr txBox="1"/>
          <p:nvPr/>
        </p:nvSpPr>
        <p:spPr>
          <a:xfrm>
            <a:off x="9052560" y="5349240"/>
            <a:ext cx="2468880" cy="548640"/>
          </a:xfrm>
          <a:prstGeom prst="rect">
            <a:avLst/>
          </a:prstGeom>
          <a:noFill/>
          <a:ln/>
        </p:spPr>
        <p:txBody>
          <a:bodyPr wrap="square" lIns="0" tIns="0" rIns="0" bIns="0" rtlCol="0" anchor="t"/>
          <a:lstStyle/>
          <a:p>
            <a:pPr indent="0" marL="0">
              <a:buNone/>
            </a:pPr>
            <a:r>
              <a:rPr lang="en-US" sz="950" i="1" dirty="0">
                <a:solidFill>
                  <a:srgbClr val="93A4C8"/>
                </a:solidFill>
                <a:latin typeface="Segoe UI" pitchFamily="34" charset="0"/>
                <a:ea typeface="Segoe UI" pitchFamily="34" charset="-122"/>
                <a:cs typeface="Segoe UI" pitchFamily="34" charset="-120"/>
              </a:rPr>
              <a:t>Detect prints the cycle, e.g. P1 → R2 → P2 → R1 → P1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03  WORKFLOW</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System Architecture and Workflow</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4 / 8</a:t>
            </a:r>
            <a:endParaRPr lang="en-US" sz="900" dirty="0"/>
          </a:p>
        </p:txBody>
      </p:sp>
      <p:sp>
        <p:nvSpPr>
          <p:cNvPr id="9" name="Shape 6"/>
          <p:cNvSpPr/>
          <p:nvPr/>
        </p:nvSpPr>
        <p:spPr>
          <a:xfrm>
            <a:off x="548640" y="1508760"/>
            <a:ext cx="2194560" cy="1051560"/>
          </a:xfrm>
          <a:prstGeom prst="roundRect">
            <a:avLst>
              <a:gd name="adj" fmla="val 6957"/>
            </a:avLst>
          </a:prstGeom>
          <a:solidFill>
            <a:srgbClr val="0F1A36"/>
          </a:solidFill>
          <a:ln w="19050">
            <a:solidFill>
              <a:srgbClr val="3B82F6"/>
            </a:solidFill>
            <a:prstDash val="solid"/>
          </a:ln>
        </p:spPr>
      </p:sp>
      <p:sp>
        <p:nvSpPr>
          <p:cNvPr id="10" name="Text 7"/>
          <p:cNvSpPr txBox="1"/>
          <p:nvPr/>
        </p:nvSpPr>
        <p:spPr>
          <a:xfrm>
            <a:off x="640080" y="1508760"/>
            <a:ext cx="201168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1  Load scenario</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Preset or terminal commands</a:t>
            </a:r>
            <a:endParaRPr lang="en-US" sz="1400" dirty="0"/>
          </a:p>
        </p:txBody>
      </p:sp>
      <p:sp>
        <p:nvSpPr>
          <p:cNvPr id="11" name="Shape 8"/>
          <p:cNvSpPr/>
          <p:nvPr/>
        </p:nvSpPr>
        <p:spPr>
          <a:xfrm>
            <a:off x="3154680" y="1508760"/>
            <a:ext cx="2194560" cy="1051560"/>
          </a:xfrm>
          <a:prstGeom prst="roundRect">
            <a:avLst>
              <a:gd name="adj" fmla="val 6957"/>
            </a:avLst>
          </a:prstGeom>
          <a:solidFill>
            <a:srgbClr val="0F1A36"/>
          </a:solidFill>
          <a:ln w="19050">
            <a:solidFill>
              <a:srgbClr val="3B82F6"/>
            </a:solidFill>
            <a:prstDash val="solid"/>
          </a:ln>
        </p:spPr>
      </p:sp>
      <p:sp>
        <p:nvSpPr>
          <p:cNvPr id="12" name="Text 9"/>
          <p:cNvSpPr txBox="1"/>
          <p:nvPr/>
        </p:nvSpPr>
        <p:spPr>
          <a:xfrm>
            <a:off x="3246120" y="1508760"/>
            <a:ext cx="201168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2  Request / Release</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GRANT if free, else BLOCK</a:t>
            </a:r>
            <a:endParaRPr lang="en-US" sz="1400" dirty="0"/>
          </a:p>
        </p:txBody>
      </p:sp>
      <p:sp>
        <p:nvSpPr>
          <p:cNvPr id="13" name="Shape 10"/>
          <p:cNvSpPr/>
          <p:nvPr/>
        </p:nvSpPr>
        <p:spPr>
          <a:xfrm>
            <a:off x="5760720" y="1508760"/>
            <a:ext cx="2194560" cy="1051560"/>
          </a:xfrm>
          <a:prstGeom prst="roundRect">
            <a:avLst>
              <a:gd name="adj" fmla="val 6957"/>
            </a:avLst>
          </a:prstGeom>
          <a:solidFill>
            <a:srgbClr val="0F1A36"/>
          </a:solidFill>
          <a:ln w="19050">
            <a:solidFill>
              <a:srgbClr val="22D3EE"/>
            </a:solidFill>
            <a:prstDash val="solid"/>
          </a:ln>
        </p:spPr>
      </p:sp>
      <p:sp>
        <p:nvSpPr>
          <p:cNvPr id="14" name="Text 11"/>
          <p:cNvSpPr txBox="1"/>
          <p:nvPr/>
        </p:nvSpPr>
        <p:spPr>
          <a:xfrm>
            <a:off x="5852160" y="1508760"/>
            <a:ext cx="201168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3  Detect</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Check which processes can finish</a:t>
            </a:r>
            <a:endParaRPr lang="en-US" sz="1400" dirty="0"/>
          </a:p>
        </p:txBody>
      </p:sp>
      <p:sp>
        <p:nvSpPr>
          <p:cNvPr id="15" name="Shape 12"/>
          <p:cNvSpPr/>
          <p:nvPr/>
        </p:nvSpPr>
        <p:spPr>
          <a:xfrm>
            <a:off x="2743200" y="2034540"/>
            <a:ext cx="411480" cy="0"/>
          </a:xfrm>
          <a:prstGeom prst="line">
            <a:avLst/>
          </a:prstGeom>
          <a:noFill/>
          <a:ln w="25400">
            <a:solidFill>
              <a:srgbClr val="22D3EE"/>
            </a:solidFill>
            <a:prstDash val="solid"/>
            <a:tailEnd type="triangle"/>
          </a:ln>
        </p:spPr>
      </p:sp>
      <p:sp>
        <p:nvSpPr>
          <p:cNvPr id="16" name="Shape 13"/>
          <p:cNvSpPr/>
          <p:nvPr/>
        </p:nvSpPr>
        <p:spPr>
          <a:xfrm>
            <a:off x="5349240" y="2034540"/>
            <a:ext cx="411480" cy="0"/>
          </a:xfrm>
          <a:prstGeom prst="line">
            <a:avLst/>
          </a:prstGeom>
          <a:noFill/>
          <a:ln w="25400">
            <a:solidFill>
              <a:srgbClr val="22D3EE"/>
            </a:solidFill>
            <a:prstDash val="solid"/>
            <a:tailEnd type="triangle"/>
          </a:ln>
        </p:spPr>
      </p:sp>
      <p:sp>
        <p:nvSpPr>
          <p:cNvPr id="17" name="Shape 14"/>
          <p:cNvSpPr/>
          <p:nvPr/>
        </p:nvSpPr>
        <p:spPr>
          <a:xfrm>
            <a:off x="7955280" y="2034540"/>
            <a:ext cx="411480" cy="0"/>
          </a:xfrm>
          <a:prstGeom prst="line">
            <a:avLst/>
          </a:prstGeom>
          <a:noFill/>
          <a:ln w="25400">
            <a:solidFill>
              <a:srgbClr val="22D3EE"/>
            </a:solidFill>
            <a:prstDash val="solid"/>
            <a:tailEnd type="triangle"/>
          </a:ln>
        </p:spPr>
      </p:sp>
      <p:sp>
        <p:nvSpPr>
          <p:cNvPr id="18" name="Shape 15"/>
          <p:cNvSpPr/>
          <p:nvPr/>
        </p:nvSpPr>
        <p:spPr>
          <a:xfrm>
            <a:off x="8366760" y="1417320"/>
            <a:ext cx="1737360" cy="1234440"/>
          </a:xfrm>
          <a:prstGeom prst="diamond">
            <a:avLst/>
          </a:prstGeom>
          <a:solidFill>
            <a:srgbClr val="142347"/>
          </a:solidFill>
          <a:ln w="19050">
            <a:solidFill>
              <a:srgbClr val="FFB54D"/>
            </a:solidFill>
            <a:prstDash val="solid"/>
          </a:ln>
        </p:spPr>
      </p:sp>
      <p:sp>
        <p:nvSpPr>
          <p:cNvPr id="19" name="Text 16"/>
          <p:cNvSpPr txBox="1"/>
          <p:nvPr/>
        </p:nvSpPr>
        <p:spPr>
          <a:xfrm>
            <a:off x="8366760" y="1417320"/>
            <a:ext cx="1737360" cy="123444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Deadlock?</a:t>
            </a:r>
            <a:endParaRPr lang="en-US" sz="1300" dirty="0"/>
          </a:p>
        </p:txBody>
      </p:sp>
      <p:sp>
        <p:nvSpPr>
          <p:cNvPr id="20" name="Shape 17"/>
          <p:cNvSpPr/>
          <p:nvPr/>
        </p:nvSpPr>
        <p:spPr>
          <a:xfrm>
            <a:off x="10104120" y="2034540"/>
            <a:ext cx="411480" cy="0"/>
          </a:xfrm>
          <a:prstGeom prst="line">
            <a:avLst/>
          </a:prstGeom>
          <a:noFill/>
          <a:ln w="25400">
            <a:solidFill>
              <a:srgbClr val="5BD37C"/>
            </a:solidFill>
            <a:prstDash val="solid"/>
            <a:tailEnd type="triangle"/>
          </a:ln>
        </p:spPr>
      </p:sp>
      <p:sp>
        <p:nvSpPr>
          <p:cNvPr id="21" name="Text 18"/>
          <p:cNvSpPr txBox="1"/>
          <p:nvPr/>
        </p:nvSpPr>
        <p:spPr>
          <a:xfrm>
            <a:off x="10104120" y="1600200"/>
            <a:ext cx="411480" cy="228600"/>
          </a:xfrm>
          <a:prstGeom prst="rect">
            <a:avLst/>
          </a:prstGeom>
          <a:noFill/>
          <a:ln/>
        </p:spPr>
        <p:txBody>
          <a:bodyPr wrap="square" lIns="0" tIns="0" rIns="0" bIns="0" rtlCol="0" anchor="ctr"/>
          <a:lstStyle/>
          <a:p>
            <a:pPr algn="ctr" indent="0" marL="0">
              <a:buNone/>
            </a:pPr>
            <a:r>
              <a:rPr lang="en-US" sz="1000" b="1" dirty="0">
                <a:solidFill>
                  <a:srgbClr val="5BD37C"/>
                </a:solidFill>
                <a:latin typeface="Segoe UI" pitchFamily="34" charset="0"/>
                <a:ea typeface="Segoe UI" pitchFamily="34" charset="-122"/>
                <a:cs typeface="Segoe UI" pitchFamily="34" charset="-120"/>
              </a:rPr>
              <a:t>No</a:t>
            </a:r>
            <a:endParaRPr lang="en-US" sz="1000" dirty="0"/>
          </a:p>
        </p:txBody>
      </p:sp>
      <p:sp>
        <p:nvSpPr>
          <p:cNvPr id="22" name="Shape 19"/>
          <p:cNvSpPr/>
          <p:nvPr/>
        </p:nvSpPr>
        <p:spPr>
          <a:xfrm>
            <a:off x="10515600" y="1508760"/>
            <a:ext cx="1234440" cy="1051560"/>
          </a:xfrm>
          <a:prstGeom prst="roundRect">
            <a:avLst>
              <a:gd name="adj" fmla="val 6957"/>
            </a:avLst>
          </a:prstGeom>
          <a:solidFill>
            <a:srgbClr val="0F1A36"/>
          </a:solidFill>
          <a:ln w="19050">
            <a:solidFill>
              <a:srgbClr val="5BD37C"/>
            </a:solidFill>
            <a:prstDash val="solid"/>
          </a:ln>
        </p:spPr>
      </p:sp>
      <p:sp>
        <p:nvSpPr>
          <p:cNvPr id="23" name="Text 20"/>
          <p:cNvSpPr txBox="1"/>
          <p:nvPr/>
        </p:nvSpPr>
        <p:spPr>
          <a:xfrm>
            <a:off x="10607040" y="1508760"/>
            <a:ext cx="105156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Safe</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No deadlock</a:t>
            </a:r>
            <a:endParaRPr lang="en-US" sz="1400" dirty="0"/>
          </a:p>
        </p:txBody>
      </p:sp>
      <p:sp>
        <p:nvSpPr>
          <p:cNvPr id="24" name="Shape 21"/>
          <p:cNvSpPr/>
          <p:nvPr/>
        </p:nvSpPr>
        <p:spPr>
          <a:xfrm>
            <a:off x="9235440" y="2651760"/>
            <a:ext cx="0" cy="777240"/>
          </a:xfrm>
          <a:prstGeom prst="line">
            <a:avLst/>
          </a:prstGeom>
          <a:noFill/>
          <a:ln w="25400">
            <a:solidFill>
              <a:srgbClr val="FF6B61"/>
            </a:solidFill>
            <a:prstDash val="solid"/>
            <a:tailEnd type="triangle"/>
          </a:ln>
        </p:spPr>
      </p:sp>
      <p:sp>
        <p:nvSpPr>
          <p:cNvPr id="25" name="Text 22"/>
          <p:cNvSpPr txBox="1"/>
          <p:nvPr/>
        </p:nvSpPr>
        <p:spPr>
          <a:xfrm>
            <a:off x="9326880" y="2880360"/>
            <a:ext cx="457200" cy="228600"/>
          </a:xfrm>
          <a:prstGeom prst="rect">
            <a:avLst/>
          </a:prstGeom>
          <a:noFill/>
          <a:ln/>
        </p:spPr>
        <p:txBody>
          <a:bodyPr wrap="square" lIns="0" tIns="0" rIns="0" bIns="0" rtlCol="0" anchor="ctr"/>
          <a:lstStyle/>
          <a:p>
            <a:pPr indent="0" marL="0">
              <a:buNone/>
            </a:pPr>
            <a:r>
              <a:rPr lang="en-US" sz="1000" b="1" dirty="0">
                <a:solidFill>
                  <a:srgbClr val="FF6B61"/>
                </a:solidFill>
                <a:latin typeface="Segoe UI" pitchFamily="34" charset="0"/>
                <a:ea typeface="Segoe UI" pitchFamily="34" charset="-122"/>
                <a:cs typeface="Segoe UI" pitchFamily="34" charset="-120"/>
              </a:rPr>
              <a:t>Yes</a:t>
            </a:r>
            <a:endParaRPr lang="en-US" sz="1000" dirty="0"/>
          </a:p>
        </p:txBody>
      </p:sp>
      <p:sp>
        <p:nvSpPr>
          <p:cNvPr id="26" name="Shape 23"/>
          <p:cNvSpPr/>
          <p:nvPr/>
        </p:nvSpPr>
        <p:spPr>
          <a:xfrm>
            <a:off x="8092440" y="3429000"/>
            <a:ext cx="2286000" cy="1051560"/>
          </a:xfrm>
          <a:prstGeom prst="roundRect">
            <a:avLst>
              <a:gd name="adj" fmla="val 6957"/>
            </a:avLst>
          </a:prstGeom>
          <a:solidFill>
            <a:srgbClr val="0F1A36"/>
          </a:solidFill>
          <a:ln w="19050">
            <a:solidFill>
              <a:srgbClr val="FF6B61"/>
            </a:solidFill>
            <a:prstDash val="solid"/>
          </a:ln>
        </p:spPr>
      </p:sp>
      <p:sp>
        <p:nvSpPr>
          <p:cNvPr id="27" name="Text 24"/>
          <p:cNvSpPr txBox="1"/>
          <p:nvPr/>
        </p:nvSpPr>
        <p:spPr>
          <a:xfrm>
            <a:off x="8183880" y="3429000"/>
            <a:ext cx="210312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4  Recover</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Pick victim: kill or rollback</a:t>
            </a:r>
            <a:endParaRPr lang="en-US" sz="1400" dirty="0"/>
          </a:p>
        </p:txBody>
      </p:sp>
      <p:sp>
        <p:nvSpPr>
          <p:cNvPr id="28" name="Shape 25"/>
          <p:cNvSpPr/>
          <p:nvPr/>
        </p:nvSpPr>
        <p:spPr>
          <a:xfrm>
            <a:off x="5212080" y="3429000"/>
            <a:ext cx="2286000" cy="1051560"/>
          </a:xfrm>
          <a:prstGeom prst="roundRect">
            <a:avLst>
              <a:gd name="adj" fmla="val 6957"/>
            </a:avLst>
          </a:prstGeom>
          <a:solidFill>
            <a:srgbClr val="0F1A36"/>
          </a:solidFill>
          <a:ln w="19050">
            <a:solidFill>
              <a:srgbClr val="22D3EE"/>
            </a:solidFill>
            <a:prstDash val="solid"/>
          </a:ln>
        </p:spPr>
      </p:sp>
      <p:sp>
        <p:nvSpPr>
          <p:cNvPr id="29" name="Text 26"/>
          <p:cNvSpPr txBox="1"/>
          <p:nvPr/>
        </p:nvSpPr>
        <p:spPr>
          <a:xfrm>
            <a:off x="5303520" y="3429000"/>
            <a:ext cx="210312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5  Re-check</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Run detect again</a:t>
            </a:r>
            <a:endParaRPr lang="en-US" sz="1400" dirty="0"/>
          </a:p>
        </p:txBody>
      </p:sp>
      <p:sp>
        <p:nvSpPr>
          <p:cNvPr id="30" name="Shape 27"/>
          <p:cNvSpPr/>
          <p:nvPr/>
        </p:nvSpPr>
        <p:spPr>
          <a:xfrm flipH="1">
            <a:off x="7498080" y="3954780"/>
            <a:ext cx="594360" cy="0"/>
          </a:xfrm>
          <a:prstGeom prst="line">
            <a:avLst/>
          </a:prstGeom>
          <a:noFill/>
          <a:ln w="25400">
            <a:solidFill>
              <a:srgbClr val="22D3EE"/>
            </a:solidFill>
            <a:prstDash val="solid"/>
            <a:tailEnd type="triangle"/>
          </a:ln>
        </p:spPr>
      </p:sp>
      <p:sp>
        <p:nvSpPr>
          <p:cNvPr id="31" name="Shape 28"/>
          <p:cNvSpPr/>
          <p:nvPr/>
        </p:nvSpPr>
        <p:spPr>
          <a:xfrm flipV="1">
            <a:off x="6400800" y="2560320"/>
            <a:ext cx="0" cy="868680"/>
          </a:xfrm>
          <a:prstGeom prst="line">
            <a:avLst/>
          </a:prstGeom>
          <a:noFill/>
          <a:ln w="25400">
            <a:solidFill>
              <a:srgbClr val="22D3EE"/>
            </a:solidFill>
            <a:prstDash val="dash"/>
            <a:tailEnd type="triangle"/>
          </a:ln>
        </p:spPr>
      </p:sp>
      <p:sp>
        <p:nvSpPr>
          <p:cNvPr id="32" name="Text 29"/>
          <p:cNvSpPr txBox="1"/>
          <p:nvPr/>
        </p:nvSpPr>
        <p:spPr>
          <a:xfrm>
            <a:off x="6492240" y="2880360"/>
            <a:ext cx="1737360" cy="365760"/>
          </a:xfrm>
          <a:prstGeom prst="rect">
            <a:avLst/>
          </a:prstGeom>
          <a:noFill/>
          <a:ln/>
        </p:spPr>
        <p:txBody>
          <a:bodyPr wrap="square" lIns="0" tIns="0" rIns="0" bIns="0" rtlCol="0" anchor="ctr"/>
          <a:lstStyle/>
          <a:p>
            <a:pPr indent="0" marL="0">
              <a:buNone/>
            </a:pPr>
            <a:r>
              <a:rPr lang="en-US" sz="950" i="1" dirty="0">
                <a:solidFill>
                  <a:srgbClr val="93A4C8"/>
                </a:solidFill>
                <a:latin typeface="Segoe UI" pitchFamily="34" charset="0"/>
                <a:ea typeface="Segoe UI" pitchFamily="34" charset="-122"/>
                <a:cs typeface="Segoe UI" pitchFamily="34" charset="-120"/>
              </a:rPr>
              <a:t>still deadlocked: repeat</a:t>
            </a:r>
            <a:endParaRPr lang="en-US" sz="950" dirty="0"/>
          </a:p>
        </p:txBody>
      </p:sp>
      <p:sp>
        <p:nvSpPr>
          <p:cNvPr id="33" name="Shape 30"/>
          <p:cNvSpPr/>
          <p:nvPr/>
        </p:nvSpPr>
        <p:spPr>
          <a:xfrm>
            <a:off x="2331720" y="3429000"/>
            <a:ext cx="2286000" cy="1051560"/>
          </a:xfrm>
          <a:prstGeom prst="roundRect">
            <a:avLst>
              <a:gd name="adj" fmla="val 6957"/>
            </a:avLst>
          </a:prstGeom>
          <a:solidFill>
            <a:srgbClr val="0F1A36"/>
          </a:solidFill>
          <a:ln w="19050">
            <a:solidFill>
              <a:srgbClr val="5BD37C"/>
            </a:solidFill>
            <a:prstDash val="solid"/>
          </a:ln>
        </p:spPr>
      </p:sp>
      <p:sp>
        <p:nvSpPr>
          <p:cNvPr id="34" name="Text 31"/>
          <p:cNvSpPr txBox="1"/>
          <p:nvPr/>
        </p:nvSpPr>
        <p:spPr>
          <a:xfrm>
            <a:off x="2423160" y="3429000"/>
            <a:ext cx="2103120" cy="1051560"/>
          </a:xfrm>
          <a:prstGeom prst="rect">
            <a:avLst/>
          </a:prstGeom>
          <a:noFill/>
          <a:ln/>
        </p:spPr>
        <p:txBody>
          <a:bodyPr wrap="square" lIns="0" tIns="0" rIns="0" bIns="0" rtlCol="0" anchor="ctr"/>
          <a:lstStyle/>
          <a:p>
            <a:pPr algn="ctr" indent="0" marL="0">
              <a:buNone/>
            </a:pPr>
            <a:r>
              <a:rPr lang="en-US" sz="1400" b="1" dirty="0">
                <a:solidFill>
                  <a:srgbClr val="E8EEFF"/>
                </a:solidFill>
                <a:latin typeface="Segoe UI" pitchFamily="34" charset="0"/>
                <a:ea typeface="Segoe UI" pitchFamily="34" charset="-122"/>
                <a:cs typeface="Segoe UI" pitchFamily="34" charset="-120"/>
              </a:rPr>
              <a:t>6  Resolved</a:t>
            </a:r>
            <a:endParaRPr lang="en-US" sz="1400" dirty="0"/>
          </a:p>
          <a:p>
            <a:pPr algn="ctr" indent="0" marL="0">
              <a:buNone/>
            </a:pPr>
            <a:r>
              <a:rPr lang="en-US" sz="1050" dirty="0">
                <a:solidFill>
                  <a:srgbClr val="93A4C8"/>
                </a:solidFill>
                <a:latin typeface="Segoe UI" pitchFamily="34" charset="0"/>
                <a:ea typeface="Segoe UI" pitchFamily="34" charset="-122"/>
                <a:cs typeface="Segoe UI" pitchFamily="34" charset="-120"/>
              </a:rPr>
              <a:t>Metrics panel updates</a:t>
            </a:r>
            <a:endParaRPr lang="en-US" sz="1400" dirty="0"/>
          </a:p>
        </p:txBody>
      </p:sp>
      <p:sp>
        <p:nvSpPr>
          <p:cNvPr id="35" name="Shape 32"/>
          <p:cNvSpPr/>
          <p:nvPr/>
        </p:nvSpPr>
        <p:spPr>
          <a:xfrm flipH="1">
            <a:off x="4617720" y="3954780"/>
            <a:ext cx="594360" cy="0"/>
          </a:xfrm>
          <a:prstGeom prst="line">
            <a:avLst/>
          </a:prstGeom>
          <a:noFill/>
          <a:ln w="25400">
            <a:solidFill>
              <a:srgbClr val="5BD37C"/>
            </a:solidFill>
            <a:prstDash val="solid"/>
            <a:tailEnd type="triangle"/>
          </a:ln>
        </p:spPr>
      </p:sp>
      <p:sp>
        <p:nvSpPr>
          <p:cNvPr id="36" name="Text 33"/>
          <p:cNvSpPr txBox="1"/>
          <p:nvPr/>
        </p:nvSpPr>
        <p:spPr>
          <a:xfrm>
            <a:off x="4663440" y="3680460"/>
            <a:ext cx="548640" cy="228600"/>
          </a:xfrm>
          <a:prstGeom prst="rect">
            <a:avLst/>
          </a:prstGeom>
          <a:noFill/>
          <a:ln/>
        </p:spPr>
        <p:txBody>
          <a:bodyPr wrap="square" lIns="0" tIns="0" rIns="0" bIns="0" rtlCol="0" anchor="ctr"/>
          <a:lstStyle/>
          <a:p>
            <a:pPr algn="ctr" indent="0" marL="0">
              <a:buNone/>
            </a:pPr>
            <a:r>
              <a:rPr lang="en-US" sz="1000" b="1" dirty="0">
                <a:solidFill>
                  <a:srgbClr val="5BD37C"/>
                </a:solidFill>
                <a:latin typeface="Segoe UI" pitchFamily="34" charset="0"/>
                <a:ea typeface="Segoe UI" pitchFamily="34" charset="-122"/>
                <a:cs typeface="Segoe UI" pitchFamily="34" charset="-120"/>
              </a:rPr>
              <a:t>clear</a:t>
            </a:r>
            <a:endParaRPr lang="en-US" sz="1000" dirty="0"/>
          </a:p>
        </p:txBody>
      </p:sp>
      <p:sp>
        <p:nvSpPr>
          <p:cNvPr id="37" name="Text 34"/>
          <p:cNvSpPr txBox="1"/>
          <p:nvPr/>
        </p:nvSpPr>
        <p:spPr>
          <a:xfrm>
            <a:off x="548640" y="4846320"/>
            <a:ext cx="5486400" cy="274320"/>
          </a:xfrm>
          <a:prstGeom prst="rect">
            <a:avLst/>
          </a:prstGeom>
          <a:noFill/>
          <a:ln/>
        </p:spPr>
        <p:txBody>
          <a:bodyPr wrap="square" lIns="0" tIns="0" rIns="0" bIns="0" rtlCol="0" anchor="ctr"/>
          <a:lstStyle/>
          <a:p>
            <a:pPr indent="0" marL="0">
              <a:buNone/>
            </a:pPr>
            <a:r>
              <a:rPr lang="en-US" sz="1300" b="1" dirty="0">
                <a:solidFill>
                  <a:srgbClr val="22D3EE"/>
                </a:solidFill>
                <a:latin typeface="Segoe UI" pitchFamily="34" charset="0"/>
                <a:ea typeface="Segoe UI" pitchFamily="34" charset="-122"/>
                <a:cs typeface="Segoe UI" pitchFamily="34" charset="-120"/>
              </a:rPr>
              <a:t>Simulator parts (single HTML page)</a:t>
            </a:r>
            <a:endParaRPr lang="en-US" sz="1300" dirty="0"/>
          </a:p>
        </p:txBody>
      </p:sp>
      <p:sp>
        <p:nvSpPr>
          <p:cNvPr id="38" name="Shape 35"/>
          <p:cNvSpPr/>
          <p:nvPr/>
        </p:nvSpPr>
        <p:spPr>
          <a:xfrm>
            <a:off x="548640" y="5212080"/>
            <a:ext cx="2697480" cy="1005840"/>
          </a:xfrm>
          <a:prstGeom prst="roundRect">
            <a:avLst>
              <a:gd name="adj" fmla="val 7273"/>
            </a:avLst>
          </a:prstGeom>
          <a:solidFill>
            <a:srgbClr val="0F1A36"/>
          </a:solidFill>
          <a:ln w="12700">
            <a:solidFill>
              <a:srgbClr val="24396B"/>
            </a:solidFill>
            <a:prstDash val="solid"/>
          </a:ln>
        </p:spPr>
      </p:sp>
      <p:sp>
        <p:nvSpPr>
          <p:cNvPr id="39" name="Text 36"/>
          <p:cNvSpPr txBox="1"/>
          <p:nvPr/>
        </p:nvSpPr>
        <p:spPr>
          <a:xfrm>
            <a:off x="685800" y="5212080"/>
            <a:ext cx="2468880" cy="1005840"/>
          </a:xfrm>
          <a:prstGeom prst="rect">
            <a:avLst/>
          </a:prstGeom>
          <a:noFill/>
          <a:ln/>
        </p:spPr>
        <p:txBody>
          <a:bodyPr wrap="square" lIns="0" tIns="0" rIns="0" bIns="0" rtlCol="0" anchor="ctr"/>
          <a:lstStyle/>
          <a:p>
            <a:pPr indent="0" marL="0">
              <a:buNone/>
            </a:pPr>
            <a:r>
              <a:rPr lang="en-US" sz="1300" b="1" dirty="0">
                <a:solidFill>
                  <a:srgbClr val="E8EEFF"/>
                </a:solidFill>
                <a:latin typeface="Segoe UI" pitchFamily="34" charset="0"/>
                <a:ea typeface="Segoe UI" pitchFamily="34" charset="-122"/>
                <a:cs typeface="Segoe UI" pitchFamily="34" charset="-120"/>
              </a:rPr>
              <a:t>SVG Graph</a:t>
            </a:r>
            <a:endParaRPr lang="en-US" sz="1300" dirty="0"/>
          </a:p>
          <a:p>
            <a:pPr indent="0" marL="0">
              <a:buNone/>
            </a:pPr>
            <a:r>
              <a:rPr lang="en-US" sz="1050" dirty="0">
                <a:solidFill>
                  <a:srgbClr val="93A4C8"/>
                </a:solidFill>
                <a:latin typeface="Segoe UI" pitchFamily="34" charset="0"/>
                <a:ea typeface="Segoe UI" pitchFamily="34" charset="-122"/>
                <a:cs typeface="Segoe UI" pitchFamily="34" charset="-120"/>
              </a:rPr>
              <a:t>Circles = processes, squares = resources</a:t>
            </a:r>
            <a:endParaRPr lang="en-US" sz="1300" dirty="0"/>
          </a:p>
        </p:txBody>
      </p:sp>
      <p:sp>
        <p:nvSpPr>
          <p:cNvPr id="40" name="Shape 37"/>
          <p:cNvSpPr/>
          <p:nvPr/>
        </p:nvSpPr>
        <p:spPr>
          <a:xfrm>
            <a:off x="3383280" y="5212080"/>
            <a:ext cx="2697480" cy="1005840"/>
          </a:xfrm>
          <a:prstGeom prst="roundRect">
            <a:avLst>
              <a:gd name="adj" fmla="val 7273"/>
            </a:avLst>
          </a:prstGeom>
          <a:solidFill>
            <a:srgbClr val="0F1A36"/>
          </a:solidFill>
          <a:ln w="12700">
            <a:solidFill>
              <a:srgbClr val="24396B"/>
            </a:solidFill>
            <a:prstDash val="solid"/>
          </a:ln>
        </p:spPr>
      </p:sp>
      <p:sp>
        <p:nvSpPr>
          <p:cNvPr id="41" name="Text 38"/>
          <p:cNvSpPr txBox="1"/>
          <p:nvPr/>
        </p:nvSpPr>
        <p:spPr>
          <a:xfrm>
            <a:off x="3520440" y="5212080"/>
            <a:ext cx="2468880" cy="1005840"/>
          </a:xfrm>
          <a:prstGeom prst="rect">
            <a:avLst/>
          </a:prstGeom>
          <a:noFill/>
          <a:ln/>
        </p:spPr>
        <p:txBody>
          <a:bodyPr wrap="square" lIns="0" tIns="0" rIns="0" bIns="0" rtlCol="0" anchor="ctr"/>
          <a:lstStyle/>
          <a:p>
            <a:pPr indent="0" marL="0">
              <a:buNone/>
            </a:pPr>
            <a:r>
              <a:rPr lang="en-US" sz="1300" b="1" dirty="0">
                <a:solidFill>
                  <a:srgbClr val="E8EEFF"/>
                </a:solidFill>
                <a:latin typeface="Segoe UI" pitchFamily="34" charset="0"/>
                <a:ea typeface="Segoe UI" pitchFamily="34" charset="-122"/>
                <a:cs typeface="Segoe UI" pitchFamily="34" charset="-120"/>
              </a:rPr>
              <a:t>Terminal</a:t>
            </a:r>
            <a:endParaRPr lang="en-US" sz="1300" dirty="0"/>
          </a:p>
          <a:p>
            <a:pPr indent="0" marL="0">
              <a:buNone/>
            </a:pPr>
            <a:r>
              <a:rPr lang="en-US" sz="1050" dirty="0">
                <a:solidFill>
                  <a:srgbClr val="93A4C8"/>
                </a:solidFill>
                <a:latin typeface="Segoe UI" pitchFamily="34" charset="0"/>
                <a:ea typeface="Segoe UI" pitchFamily="34" charset="-122"/>
                <a:cs typeface="Segoe UI" pitchFamily="34" charset="-120"/>
              </a:rPr>
              <a:t>os-sim$ commands: spawn, res, request, detect, recover</a:t>
            </a:r>
            <a:endParaRPr lang="en-US" sz="1300" dirty="0"/>
          </a:p>
        </p:txBody>
      </p:sp>
      <p:sp>
        <p:nvSpPr>
          <p:cNvPr id="42" name="Shape 39"/>
          <p:cNvSpPr/>
          <p:nvPr/>
        </p:nvSpPr>
        <p:spPr>
          <a:xfrm>
            <a:off x="6217920" y="5212080"/>
            <a:ext cx="2697480" cy="1005840"/>
          </a:xfrm>
          <a:prstGeom prst="roundRect">
            <a:avLst>
              <a:gd name="adj" fmla="val 7273"/>
            </a:avLst>
          </a:prstGeom>
          <a:solidFill>
            <a:srgbClr val="0F1A36"/>
          </a:solidFill>
          <a:ln w="12700">
            <a:solidFill>
              <a:srgbClr val="24396B"/>
            </a:solidFill>
            <a:prstDash val="solid"/>
          </a:ln>
        </p:spPr>
      </p:sp>
      <p:sp>
        <p:nvSpPr>
          <p:cNvPr id="43" name="Text 40"/>
          <p:cNvSpPr txBox="1"/>
          <p:nvPr/>
        </p:nvSpPr>
        <p:spPr>
          <a:xfrm>
            <a:off x="6355080" y="5212080"/>
            <a:ext cx="2468880" cy="1005840"/>
          </a:xfrm>
          <a:prstGeom prst="rect">
            <a:avLst/>
          </a:prstGeom>
          <a:noFill/>
          <a:ln/>
        </p:spPr>
        <p:txBody>
          <a:bodyPr wrap="square" lIns="0" tIns="0" rIns="0" bIns="0" rtlCol="0" anchor="ctr"/>
          <a:lstStyle/>
          <a:p>
            <a:pPr indent="0" marL="0">
              <a:buNone/>
            </a:pPr>
            <a:r>
              <a:rPr lang="en-US" sz="1300" b="1" dirty="0">
                <a:solidFill>
                  <a:srgbClr val="E8EEFF"/>
                </a:solidFill>
                <a:latin typeface="Segoe UI" pitchFamily="34" charset="0"/>
                <a:ea typeface="Segoe UI" pitchFamily="34" charset="-122"/>
                <a:cs typeface="Segoe UI" pitchFamily="34" charset="-120"/>
              </a:rPr>
              <a:t>Buttons</a:t>
            </a:r>
            <a:endParaRPr lang="en-US" sz="1300" dirty="0"/>
          </a:p>
          <a:p>
            <a:pPr indent="0" marL="0">
              <a:buNone/>
            </a:pPr>
            <a:r>
              <a:rPr lang="en-US" sz="1050" dirty="0">
                <a:solidFill>
                  <a:srgbClr val="93A4C8"/>
                </a:solidFill>
                <a:latin typeface="Segoe UI" pitchFamily="34" charset="0"/>
                <a:ea typeface="Segoe UI" pitchFamily="34" charset="-122"/>
                <a:cs typeface="Segoe UI" pitchFamily="34" charset="-120"/>
              </a:rPr>
              <a:t>Scenarios, demo, detect, recovery</a:t>
            </a:r>
            <a:endParaRPr lang="en-US" sz="1300" dirty="0"/>
          </a:p>
        </p:txBody>
      </p:sp>
      <p:sp>
        <p:nvSpPr>
          <p:cNvPr id="44" name="Shape 41"/>
          <p:cNvSpPr/>
          <p:nvPr/>
        </p:nvSpPr>
        <p:spPr>
          <a:xfrm>
            <a:off x="9052560" y="5212080"/>
            <a:ext cx="2697480" cy="1005840"/>
          </a:xfrm>
          <a:prstGeom prst="roundRect">
            <a:avLst>
              <a:gd name="adj" fmla="val 7273"/>
            </a:avLst>
          </a:prstGeom>
          <a:solidFill>
            <a:srgbClr val="0F1A36"/>
          </a:solidFill>
          <a:ln w="12700">
            <a:solidFill>
              <a:srgbClr val="24396B"/>
            </a:solidFill>
            <a:prstDash val="solid"/>
          </a:ln>
        </p:spPr>
      </p:sp>
      <p:sp>
        <p:nvSpPr>
          <p:cNvPr id="45" name="Text 42"/>
          <p:cNvSpPr txBox="1"/>
          <p:nvPr/>
        </p:nvSpPr>
        <p:spPr>
          <a:xfrm>
            <a:off x="9189720" y="5212080"/>
            <a:ext cx="2468880" cy="1005840"/>
          </a:xfrm>
          <a:prstGeom prst="rect">
            <a:avLst/>
          </a:prstGeom>
          <a:noFill/>
          <a:ln/>
        </p:spPr>
        <p:txBody>
          <a:bodyPr wrap="square" lIns="0" tIns="0" rIns="0" bIns="0" rtlCol="0" anchor="ctr"/>
          <a:lstStyle/>
          <a:p>
            <a:pPr indent="0" marL="0">
              <a:buNone/>
            </a:pPr>
            <a:r>
              <a:rPr lang="en-US" sz="1300" b="1" dirty="0">
                <a:solidFill>
                  <a:srgbClr val="E8EEFF"/>
                </a:solidFill>
                <a:latin typeface="Segoe UI" pitchFamily="34" charset="0"/>
                <a:ea typeface="Segoe UI" pitchFamily="34" charset="-122"/>
                <a:cs typeface="Segoe UI" pitchFamily="34" charset="-120"/>
              </a:rPr>
              <a:t>Metrics</a:t>
            </a:r>
            <a:endParaRPr lang="en-US" sz="1300" dirty="0"/>
          </a:p>
          <a:p>
            <a:pPr indent="0" marL="0">
              <a:buNone/>
            </a:pPr>
            <a:r>
              <a:rPr lang="en-US" sz="1050" dirty="0">
                <a:solidFill>
                  <a:srgbClr val="93A4C8"/>
                </a:solidFill>
                <a:latin typeface="Segoe UI" pitchFamily="34" charset="0"/>
                <a:ea typeface="Segoe UI" pitchFamily="34" charset="-122"/>
                <a:cs typeface="Segoe UI" pitchFamily="34" charset="-120"/>
              </a:rPr>
              <a:t>Killed, rollbacks, rounds, freed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04  DETECTION</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Deadlock Detection Algorithm</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5 / 8</a:t>
            </a:r>
            <a:endParaRPr lang="en-US" sz="900" dirty="0"/>
          </a:p>
        </p:txBody>
      </p:sp>
      <p:sp>
        <p:nvSpPr>
          <p:cNvPr id="9" name="Text 6"/>
          <p:cNvSpPr txBox="1"/>
          <p:nvPr/>
        </p:nvSpPr>
        <p:spPr>
          <a:xfrm>
            <a:off x="548640" y="1417320"/>
            <a:ext cx="4572000" cy="320040"/>
          </a:xfrm>
          <a:prstGeom prst="rect">
            <a:avLst/>
          </a:prstGeom>
          <a:noFill/>
          <a:ln/>
        </p:spPr>
        <p:txBody>
          <a:bodyPr wrap="square" lIns="0" tIns="0" rIns="0" bIns="0" rtlCol="0" anchor="ctr"/>
          <a:lstStyle/>
          <a:p>
            <a:pPr indent="0" marL="0">
              <a:buNone/>
            </a:pPr>
            <a:r>
              <a:rPr lang="en-US" sz="1800" b="1" dirty="0">
                <a:solidFill>
                  <a:srgbClr val="22D3EE"/>
                </a:solidFill>
                <a:latin typeface="Segoe UI" pitchFamily="34" charset="0"/>
                <a:ea typeface="Segoe UI" pitchFamily="34" charset="-122"/>
                <a:cs typeface="Segoe UI" pitchFamily="34" charset="-120"/>
              </a:rPr>
              <a:t>Data structures</a:t>
            </a:r>
            <a:endParaRPr lang="en-US" sz="1800" dirty="0"/>
          </a:p>
        </p:txBody>
      </p:sp>
      <p:sp>
        <p:nvSpPr>
          <p:cNvPr id="10" name="Shape 7"/>
          <p:cNvSpPr/>
          <p:nvPr/>
        </p:nvSpPr>
        <p:spPr>
          <a:xfrm>
            <a:off x="548640" y="1828800"/>
            <a:ext cx="5120640" cy="987552"/>
          </a:xfrm>
          <a:prstGeom prst="roundRect">
            <a:avLst>
              <a:gd name="adj" fmla="val 7407"/>
            </a:avLst>
          </a:prstGeom>
          <a:solidFill>
            <a:srgbClr val="0F1A36"/>
          </a:solidFill>
          <a:ln w="12700">
            <a:solidFill>
              <a:srgbClr val="24396B"/>
            </a:solidFill>
            <a:prstDash val="solid"/>
          </a:ln>
        </p:spPr>
      </p:sp>
      <p:sp>
        <p:nvSpPr>
          <p:cNvPr id="11" name="Text 8"/>
          <p:cNvSpPr txBox="1"/>
          <p:nvPr/>
        </p:nvSpPr>
        <p:spPr>
          <a:xfrm>
            <a:off x="731520" y="1901952"/>
            <a:ext cx="4754880" cy="274320"/>
          </a:xfrm>
          <a:prstGeom prst="rect">
            <a:avLst/>
          </a:prstGeom>
          <a:noFill/>
          <a:ln/>
        </p:spPr>
        <p:txBody>
          <a:bodyPr wrap="square" lIns="0" tIns="0" rIns="0" bIns="0" rtlCol="0" anchor="ctr"/>
          <a:lstStyle/>
          <a:p>
            <a:pPr indent="0" marL="0">
              <a:buNone/>
            </a:pPr>
            <a:r>
              <a:rPr lang="en-US" sz="1300" b="1" dirty="0">
                <a:solidFill>
                  <a:srgbClr val="22D3EE"/>
                </a:solidFill>
                <a:latin typeface="Consolas" pitchFamily="34" charset="0"/>
                <a:ea typeface="Consolas" pitchFamily="34" charset="-122"/>
                <a:cs typeface="Consolas" pitchFamily="34" charset="-120"/>
              </a:rPr>
              <a:t>procs[name]</a:t>
            </a:r>
            <a:endParaRPr lang="en-US" sz="1300" dirty="0"/>
          </a:p>
        </p:txBody>
      </p:sp>
      <p:sp>
        <p:nvSpPr>
          <p:cNvPr id="12" name="Text 9"/>
          <p:cNvSpPr txBox="1"/>
          <p:nvPr/>
        </p:nvSpPr>
        <p:spPr>
          <a:xfrm>
            <a:off x="731520" y="2194560"/>
            <a:ext cx="4754880" cy="274320"/>
          </a:xfrm>
          <a:prstGeom prst="rect">
            <a:avLst/>
          </a:prstGeom>
          <a:noFill/>
          <a:ln/>
        </p:spPr>
        <p:txBody>
          <a:bodyPr wrap="square" lIns="0" tIns="0" rIns="0" bIns="0" rtlCol="0" anchor="ctr"/>
          <a:lstStyle/>
          <a:p>
            <a:pPr indent="0" marL="0">
              <a:buNone/>
            </a:pPr>
            <a:r>
              <a:rPr lang="en-US" sz="1000" dirty="0">
                <a:solidFill>
                  <a:srgbClr val="E8EEFF"/>
                </a:solidFill>
                <a:latin typeface="Consolas" pitchFamily="34" charset="0"/>
                <a:ea typeface="Consolas" pitchFamily="34" charset="-122"/>
                <a:cs typeface="Consolas" pitchFamily="34" charset="-120"/>
              </a:rPr>
              <a:t>{ held:{R:count}, wait:R | null, rb:rollbacks }</a:t>
            </a:r>
            <a:endParaRPr lang="en-US" sz="1000" dirty="0"/>
          </a:p>
        </p:txBody>
      </p:sp>
      <p:sp>
        <p:nvSpPr>
          <p:cNvPr id="13" name="Text 10"/>
          <p:cNvSpPr txBox="1"/>
          <p:nvPr/>
        </p:nvSpPr>
        <p:spPr>
          <a:xfrm>
            <a:off x="731520" y="2468880"/>
            <a:ext cx="4754880" cy="274320"/>
          </a:xfrm>
          <a:prstGeom prst="rect">
            <a:avLst/>
          </a:prstGeom>
          <a:noFill/>
          <a:ln/>
        </p:spPr>
        <p:txBody>
          <a:bodyPr wrap="square" lIns="0" tIns="0" rIns="0" bIns="0" rtlCol="0" anchor="ctr"/>
          <a:lstStyle/>
          <a:p>
            <a:pPr indent="0" marL="0">
              <a:buNone/>
            </a:pPr>
            <a:r>
              <a:rPr lang="en-US" sz="1050" dirty="0">
                <a:solidFill>
                  <a:srgbClr val="93A4C8"/>
                </a:solidFill>
                <a:latin typeface="Segoe UI" pitchFamily="34" charset="0"/>
                <a:ea typeface="Segoe UI" pitchFamily="34" charset="-122"/>
                <a:cs typeface="Segoe UI" pitchFamily="34" charset="-120"/>
              </a:rPr>
              <a:t>Each process: what it holds, what it waits for, rollback count</a:t>
            </a:r>
            <a:endParaRPr lang="en-US" sz="1050" dirty="0"/>
          </a:p>
        </p:txBody>
      </p:sp>
      <p:sp>
        <p:nvSpPr>
          <p:cNvPr id="14" name="Shape 11"/>
          <p:cNvSpPr/>
          <p:nvPr/>
        </p:nvSpPr>
        <p:spPr>
          <a:xfrm>
            <a:off x="548640" y="2926080"/>
            <a:ext cx="5120640" cy="987552"/>
          </a:xfrm>
          <a:prstGeom prst="roundRect">
            <a:avLst>
              <a:gd name="adj" fmla="val 7407"/>
            </a:avLst>
          </a:prstGeom>
          <a:solidFill>
            <a:srgbClr val="0F1A36"/>
          </a:solidFill>
          <a:ln w="12700">
            <a:solidFill>
              <a:srgbClr val="24396B"/>
            </a:solidFill>
            <a:prstDash val="solid"/>
          </a:ln>
        </p:spPr>
      </p:sp>
      <p:sp>
        <p:nvSpPr>
          <p:cNvPr id="15" name="Text 12"/>
          <p:cNvSpPr txBox="1"/>
          <p:nvPr/>
        </p:nvSpPr>
        <p:spPr>
          <a:xfrm>
            <a:off x="731520" y="2999232"/>
            <a:ext cx="4754880" cy="274320"/>
          </a:xfrm>
          <a:prstGeom prst="rect">
            <a:avLst/>
          </a:prstGeom>
          <a:noFill/>
          <a:ln/>
        </p:spPr>
        <p:txBody>
          <a:bodyPr wrap="square" lIns="0" tIns="0" rIns="0" bIns="0" rtlCol="0" anchor="ctr"/>
          <a:lstStyle/>
          <a:p>
            <a:pPr indent="0" marL="0">
              <a:buNone/>
            </a:pPr>
            <a:r>
              <a:rPr lang="en-US" sz="1300" b="1" dirty="0">
                <a:solidFill>
                  <a:srgbClr val="22D3EE"/>
                </a:solidFill>
                <a:latin typeface="Consolas" pitchFamily="34" charset="0"/>
                <a:ea typeface="Consolas" pitchFamily="34" charset="-122"/>
                <a:cs typeface="Consolas" pitchFamily="34" charset="-120"/>
              </a:rPr>
              <a:t>res[name]</a:t>
            </a:r>
            <a:endParaRPr lang="en-US" sz="1300" dirty="0"/>
          </a:p>
        </p:txBody>
      </p:sp>
      <p:sp>
        <p:nvSpPr>
          <p:cNvPr id="16" name="Text 13"/>
          <p:cNvSpPr txBox="1"/>
          <p:nvPr/>
        </p:nvSpPr>
        <p:spPr>
          <a:xfrm>
            <a:off x="731520" y="3291840"/>
            <a:ext cx="4754880" cy="274320"/>
          </a:xfrm>
          <a:prstGeom prst="rect">
            <a:avLst/>
          </a:prstGeom>
          <a:noFill/>
          <a:ln/>
        </p:spPr>
        <p:txBody>
          <a:bodyPr wrap="square" lIns="0" tIns="0" rIns="0" bIns="0" rtlCol="0" anchor="ctr"/>
          <a:lstStyle/>
          <a:p>
            <a:pPr indent="0" marL="0">
              <a:buNone/>
            </a:pPr>
            <a:r>
              <a:rPr lang="en-US" sz="1000" dirty="0">
                <a:solidFill>
                  <a:srgbClr val="E8EEFF"/>
                </a:solidFill>
                <a:latin typeface="Consolas" pitchFamily="34" charset="0"/>
                <a:ea typeface="Consolas" pitchFamily="34" charset="-122"/>
                <a:cs typeface="Consolas" pitchFamily="34" charset="-120"/>
              </a:rPr>
              <a:t>{ total }</a:t>
            </a:r>
            <a:endParaRPr lang="en-US" sz="1000" dirty="0"/>
          </a:p>
        </p:txBody>
      </p:sp>
      <p:sp>
        <p:nvSpPr>
          <p:cNvPr id="17" name="Text 14"/>
          <p:cNvSpPr txBox="1"/>
          <p:nvPr/>
        </p:nvSpPr>
        <p:spPr>
          <a:xfrm>
            <a:off x="731520" y="3566160"/>
            <a:ext cx="4754880" cy="274320"/>
          </a:xfrm>
          <a:prstGeom prst="rect">
            <a:avLst/>
          </a:prstGeom>
          <a:noFill/>
          <a:ln/>
        </p:spPr>
        <p:txBody>
          <a:bodyPr wrap="square" lIns="0" tIns="0" rIns="0" bIns="0" rtlCol="0" anchor="ctr"/>
          <a:lstStyle/>
          <a:p>
            <a:pPr indent="0" marL="0">
              <a:buNone/>
            </a:pPr>
            <a:r>
              <a:rPr lang="en-US" sz="1050" dirty="0">
                <a:solidFill>
                  <a:srgbClr val="93A4C8"/>
                </a:solidFill>
                <a:latin typeface="Segoe UI" pitchFamily="34" charset="0"/>
                <a:ea typeface="Segoe UI" pitchFamily="34" charset="-122"/>
                <a:cs typeface="Segoe UI" pitchFamily="34" charset="-120"/>
              </a:rPr>
              <a:t>Number of units; available = total - units held by all</a:t>
            </a:r>
            <a:endParaRPr lang="en-US" sz="1050" dirty="0"/>
          </a:p>
        </p:txBody>
      </p:sp>
      <p:sp>
        <p:nvSpPr>
          <p:cNvPr id="18" name="Shape 15"/>
          <p:cNvSpPr/>
          <p:nvPr/>
        </p:nvSpPr>
        <p:spPr>
          <a:xfrm>
            <a:off x="548640" y="4023360"/>
            <a:ext cx="5120640" cy="987552"/>
          </a:xfrm>
          <a:prstGeom prst="roundRect">
            <a:avLst>
              <a:gd name="adj" fmla="val 7407"/>
            </a:avLst>
          </a:prstGeom>
          <a:solidFill>
            <a:srgbClr val="0F1A36"/>
          </a:solidFill>
          <a:ln w="12700">
            <a:solidFill>
              <a:srgbClr val="24396B"/>
            </a:solidFill>
            <a:prstDash val="solid"/>
          </a:ln>
        </p:spPr>
      </p:sp>
      <p:sp>
        <p:nvSpPr>
          <p:cNvPr id="19" name="Text 16"/>
          <p:cNvSpPr txBox="1"/>
          <p:nvPr/>
        </p:nvSpPr>
        <p:spPr>
          <a:xfrm>
            <a:off x="731520" y="4096512"/>
            <a:ext cx="4754880" cy="274320"/>
          </a:xfrm>
          <a:prstGeom prst="rect">
            <a:avLst/>
          </a:prstGeom>
          <a:noFill/>
          <a:ln/>
        </p:spPr>
        <p:txBody>
          <a:bodyPr wrap="square" lIns="0" tIns="0" rIns="0" bIns="0" rtlCol="0" anchor="ctr"/>
          <a:lstStyle/>
          <a:p>
            <a:pPr indent="0" marL="0">
              <a:buNone/>
            </a:pPr>
            <a:r>
              <a:rPr lang="en-US" sz="1300" b="1" dirty="0">
                <a:solidFill>
                  <a:srgbClr val="22D3EE"/>
                </a:solidFill>
                <a:latin typeface="Consolas" pitchFamily="34" charset="0"/>
                <a:ea typeface="Consolas" pitchFamily="34" charset="-122"/>
                <a:cs typeface="Consolas" pitchFamily="34" charset="-120"/>
              </a:rPr>
              <a:t>work{}  fin{}</a:t>
            </a:r>
            <a:endParaRPr lang="en-US" sz="1300" dirty="0"/>
          </a:p>
        </p:txBody>
      </p:sp>
      <p:sp>
        <p:nvSpPr>
          <p:cNvPr id="20" name="Text 17"/>
          <p:cNvSpPr txBox="1"/>
          <p:nvPr/>
        </p:nvSpPr>
        <p:spPr>
          <a:xfrm>
            <a:off x="731520" y="4389120"/>
            <a:ext cx="4754880" cy="274320"/>
          </a:xfrm>
          <a:prstGeom prst="rect">
            <a:avLst/>
          </a:prstGeom>
          <a:noFill/>
          <a:ln/>
        </p:spPr>
        <p:txBody>
          <a:bodyPr wrap="square" lIns="0" tIns="0" rIns="0" bIns="0" rtlCol="0" anchor="ctr"/>
          <a:lstStyle/>
          <a:p>
            <a:pPr indent="0" marL="0">
              <a:buNone/>
            </a:pPr>
            <a:r>
              <a:rPr lang="en-US" sz="1000" dirty="0">
                <a:solidFill>
                  <a:srgbClr val="E8EEFF"/>
                </a:solidFill>
                <a:latin typeface="Consolas" pitchFamily="34" charset="0"/>
                <a:ea typeface="Consolas" pitchFamily="34" charset="-122"/>
                <a:cs typeface="Consolas" pitchFamily="34" charset="-120"/>
              </a:rPr>
              <a:t>temporary copies used while detecting</a:t>
            </a:r>
            <a:endParaRPr lang="en-US" sz="1000" dirty="0"/>
          </a:p>
        </p:txBody>
      </p:sp>
      <p:sp>
        <p:nvSpPr>
          <p:cNvPr id="21" name="Text 18"/>
          <p:cNvSpPr txBox="1"/>
          <p:nvPr/>
        </p:nvSpPr>
        <p:spPr>
          <a:xfrm>
            <a:off x="731520" y="4663440"/>
            <a:ext cx="4754880" cy="274320"/>
          </a:xfrm>
          <a:prstGeom prst="rect">
            <a:avLst/>
          </a:prstGeom>
          <a:noFill/>
          <a:ln/>
        </p:spPr>
        <p:txBody>
          <a:bodyPr wrap="square" lIns="0" tIns="0" rIns="0" bIns="0" rtlCol="0" anchor="ctr"/>
          <a:lstStyle/>
          <a:p>
            <a:pPr indent="0" marL="0">
              <a:buNone/>
            </a:pPr>
            <a:r>
              <a:rPr lang="en-US" sz="1050" dirty="0">
                <a:solidFill>
                  <a:srgbClr val="93A4C8"/>
                </a:solidFill>
                <a:latin typeface="Segoe UI" pitchFamily="34" charset="0"/>
                <a:ea typeface="Segoe UI" pitchFamily="34" charset="-122"/>
                <a:cs typeface="Segoe UI" pitchFamily="34" charset="-120"/>
              </a:rPr>
              <a:t>Pretend-free units, and "can finish" flags</a:t>
            </a:r>
            <a:endParaRPr lang="en-US" sz="1050" dirty="0"/>
          </a:p>
        </p:txBody>
      </p:sp>
      <p:sp>
        <p:nvSpPr>
          <p:cNvPr id="22" name="Shape 19"/>
          <p:cNvSpPr/>
          <p:nvPr/>
        </p:nvSpPr>
        <p:spPr>
          <a:xfrm>
            <a:off x="548640" y="5120640"/>
            <a:ext cx="5120640" cy="987552"/>
          </a:xfrm>
          <a:prstGeom prst="roundRect">
            <a:avLst>
              <a:gd name="adj" fmla="val 7407"/>
            </a:avLst>
          </a:prstGeom>
          <a:solidFill>
            <a:srgbClr val="0F1A36"/>
          </a:solidFill>
          <a:ln w="12700">
            <a:solidFill>
              <a:srgbClr val="24396B"/>
            </a:solidFill>
            <a:prstDash val="solid"/>
          </a:ln>
        </p:spPr>
      </p:sp>
      <p:sp>
        <p:nvSpPr>
          <p:cNvPr id="23" name="Text 20"/>
          <p:cNvSpPr txBox="1"/>
          <p:nvPr/>
        </p:nvSpPr>
        <p:spPr>
          <a:xfrm>
            <a:off x="731520" y="5193792"/>
            <a:ext cx="4754880" cy="274320"/>
          </a:xfrm>
          <a:prstGeom prst="rect">
            <a:avLst/>
          </a:prstGeom>
          <a:noFill/>
          <a:ln/>
        </p:spPr>
        <p:txBody>
          <a:bodyPr wrap="square" lIns="0" tIns="0" rIns="0" bIns="0" rtlCol="0" anchor="ctr"/>
          <a:lstStyle/>
          <a:p>
            <a:pPr indent="0" marL="0">
              <a:buNone/>
            </a:pPr>
            <a:r>
              <a:rPr lang="en-US" sz="1300" b="1" dirty="0">
                <a:solidFill>
                  <a:srgbClr val="22D3EE"/>
                </a:solidFill>
                <a:latin typeface="Consolas" pitchFamily="34" charset="0"/>
                <a:ea typeface="Consolas" pitchFamily="34" charset="-122"/>
                <a:cs typeface="Consolas" pitchFamily="34" charset="-120"/>
              </a:rPr>
              <a:t>dead</a:t>
            </a:r>
            <a:endParaRPr lang="en-US" sz="1300" dirty="0"/>
          </a:p>
        </p:txBody>
      </p:sp>
      <p:sp>
        <p:nvSpPr>
          <p:cNvPr id="24" name="Text 21"/>
          <p:cNvSpPr txBox="1"/>
          <p:nvPr/>
        </p:nvSpPr>
        <p:spPr>
          <a:xfrm>
            <a:off x="731520" y="5486400"/>
            <a:ext cx="4754880" cy="274320"/>
          </a:xfrm>
          <a:prstGeom prst="rect">
            <a:avLst/>
          </a:prstGeom>
          <a:noFill/>
          <a:ln/>
        </p:spPr>
        <p:txBody>
          <a:bodyPr wrap="square" lIns="0" tIns="0" rIns="0" bIns="0" rtlCol="0" anchor="ctr"/>
          <a:lstStyle/>
          <a:p>
            <a:pPr indent="0" marL="0">
              <a:buNone/>
            </a:pPr>
            <a:r>
              <a:rPr lang="en-US" sz="1000" dirty="0">
                <a:solidFill>
                  <a:srgbClr val="E8EEFF"/>
                </a:solidFill>
                <a:latin typeface="Consolas" pitchFamily="34" charset="0"/>
                <a:ea typeface="Consolas" pitchFamily="34" charset="-122"/>
                <a:cs typeface="Consolas" pitchFamily="34" charset="-120"/>
              </a:rPr>
              <a:t>Set of deadlocked process names</a:t>
            </a:r>
            <a:endParaRPr lang="en-US" sz="1000" dirty="0"/>
          </a:p>
        </p:txBody>
      </p:sp>
      <p:sp>
        <p:nvSpPr>
          <p:cNvPr id="25" name="Text 22"/>
          <p:cNvSpPr txBox="1"/>
          <p:nvPr/>
        </p:nvSpPr>
        <p:spPr>
          <a:xfrm>
            <a:off x="731520" y="5760720"/>
            <a:ext cx="4754880" cy="274320"/>
          </a:xfrm>
          <a:prstGeom prst="rect">
            <a:avLst/>
          </a:prstGeom>
          <a:noFill/>
          <a:ln/>
        </p:spPr>
        <p:txBody>
          <a:bodyPr wrap="square" lIns="0" tIns="0" rIns="0" bIns="0" rtlCol="0" anchor="ctr"/>
          <a:lstStyle/>
          <a:p>
            <a:pPr indent="0" marL="0">
              <a:buNone/>
            </a:pPr>
            <a:r>
              <a:rPr lang="en-US" sz="1050" dirty="0">
                <a:solidFill>
                  <a:srgbClr val="93A4C8"/>
                </a:solidFill>
                <a:latin typeface="Segoe UI" pitchFamily="34" charset="0"/>
                <a:ea typeface="Segoe UI" pitchFamily="34" charset="-122"/>
                <a:cs typeface="Segoe UI" pitchFamily="34" charset="-120"/>
              </a:rPr>
              <a:t>Output of detection; shown in red on graph</a:t>
            </a:r>
            <a:endParaRPr lang="en-US" sz="1050" dirty="0"/>
          </a:p>
        </p:txBody>
      </p:sp>
      <p:sp>
        <p:nvSpPr>
          <p:cNvPr id="26" name="Text 23"/>
          <p:cNvSpPr txBox="1"/>
          <p:nvPr/>
        </p:nvSpPr>
        <p:spPr>
          <a:xfrm>
            <a:off x="6126480" y="1417320"/>
            <a:ext cx="4572000" cy="320040"/>
          </a:xfrm>
          <a:prstGeom prst="rect">
            <a:avLst/>
          </a:prstGeom>
          <a:noFill/>
          <a:ln/>
        </p:spPr>
        <p:txBody>
          <a:bodyPr wrap="square" lIns="0" tIns="0" rIns="0" bIns="0" rtlCol="0" anchor="ctr"/>
          <a:lstStyle/>
          <a:p>
            <a:pPr indent="0" marL="0">
              <a:buNone/>
            </a:pPr>
            <a:r>
              <a:rPr lang="en-US" sz="1800" b="1" dirty="0">
                <a:solidFill>
                  <a:srgbClr val="22D3EE"/>
                </a:solidFill>
                <a:latin typeface="Segoe UI" pitchFamily="34" charset="0"/>
                <a:ea typeface="Segoe UI" pitchFamily="34" charset="-122"/>
                <a:cs typeface="Segoe UI" pitchFamily="34" charset="-120"/>
              </a:rPr>
              <a:t>How detect() works</a:t>
            </a:r>
            <a:endParaRPr lang="en-US" sz="1800" dirty="0"/>
          </a:p>
        </p:txBody>
      </p:sp>
      <p:sp>
        <p:nvSpPr>
          <p:cNvPr id="27" name="Shape 24"/>
          <p:cNvSpPr/>
          <p:nvPr/>
        </p:nvSpPr>
        <p:spPr>
          <a:xfrm>
            <a:off x="6126480" y="1920240"/>
            <a:ext cx="411480" cy="411480"/>
          </a:xfrm>
          <a:prstGeom prst="ellipse">
            <a:avLst/>
          </a:prstGeom>
          <a:solidFill>
            <a:srgbClr val="3B82F6"/>
          </a:solidFill>
          <a:ln w="12700">
            <a:solidFill>
              <a:srgbClr val="3B82F6"/>
            </a:solidFill>
            <a:prstDash val="solid"/>
          </a:ln>
        </p:spPr>
      </p:sp>
      <p:sp>
        <p:nvSpPr>
          <p:cNvPr id="28" name="Text 25"/>
          <p:cNvSpPr txBox="1"/>
          <p:nvPr/>
        </p:nvSpPr>
        <p:spPr>
          <a:xfrm>
            <a:off x="6126480" y="1920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1</a:t>
            </a:r>
            <a:endParaRPr lang="en-US" sz="1300" dirty="0"/>
          </a:p>
        </p:txBody>
      </p:sp>
      <p:sp>
        <p:nvSpPr>
          <p:cNvPr id="29" name="Text 26"/>
          <p:cNvSpPr txBox="1"/>
          <p:nvPr/>
        </p:nvSpPr>
        <p:spPr>
          <a:xfrm>
            <a:off x="6675120" y="1828800"/>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Start:  </a:t>
            </a:r>
            <a:pPr indent="0" marL="0">
              <a:buNone/>
            </a:pPr>
            <a:r>
              <a:rPr lang="en-US" sz="1200" dirty="0">
                <a:solidFill>
                  <a:srgbClr val="E8EEFF"/>
                </a:solidFill>
                <a:latin typeface="Segoe UI" pitchFamily="34" charset="0"/>
                <a:ea typeface="Segoe UI" pitchFamily="34" charset="-122"/>
                <a:cs typeface="Segoe UI" pitchFamily="34" charset="-120"/>
              </a:rPr>
              <a:t>work = available units of every resource</a:t>
            </a:r>
            <a:endParaRPr lang="en-US" sz="1200" dirty="0"/>
          </a:p>
        </p:txBody>
      </p:sp>
      <p:sp>
        <p:nvSpPr>
          <p:cNvPr id="30" name="Shape 27"/>
          <p:cNvSpPr/>
          <p:nvPr/>
        </p:nvSpPr>
        <p:spPr>
          <a:xfrm>
            <a:off x="6332220" y="2331720"/>
            <a:ext cx="0" cy="210312"/>
          </a:xfrm>
          <a:prstGeom prst="line">
            <a:avLst/>
          </a:prstGeom>
          <a:noFill/>
          <a:ln w="19050">
            <a:solidFill>
              <a:srgbClr val="24396B"/>
            </a:solidFill>
            <a:prstDash val="solid"/>
          </a:ln>
        </p:spPr>
      </p:sp>
      <p:sp>
        <p:nvSpPr>
          <p:cNvPr id="31" name="Shape 28"/>
          <p:cNvSpPr/>
          <p:nvPr/>
        </p:nvSpPr>
        <p:spPr>
          <a:xfrm>
            <a:off x="6126480" y="2633472"/>
            <a:ext cx="411480" cy="411480"/>
          </a:xfrm>
          <a:prstGeom prst="ellipse">
            <a:avLst/>
          </a:prstGeom>
          <a:solidFill>
            <a:srgbClr val="3B82F6"/>
          </a:solidFill>
          <a:ln w="12700">
            <a:solidFill>
              <a:srgbClr val="3B82F6"/>
            </a:solidFill>
            <a:prstDash val="solid"/>
          </a:ln>
        </p:spPr>
      </p:sp>
      <p:sp>
        <p:nvSpPr>
          <p:cNvPr id="32" name="Text 29"/>
          <p:cNvSpPr txBox="1"/>
          <p:nvPr/>
        </p:nvSpPr>
        <p:spPr>
          <a:xfrm>
            <a:off x="6126480" y="263347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2</a:t>
            </a:r>
            <a:endParaRPr lang="en-US" sz="1300" dirty="0"/>
          </a:p>
        </p:txBody>
      </p:sp>
      <p:sp>
        <p:nvSpPr>
          <p:cNvPr id="33" name="Text 30"/>
          <p:cNvSpPr txBox="1"/>
          <p:nvPr/>
        </p:nvSpPr>
        <p:spPr>
          <a:xfrm>
            <a:off x="6675120" y="2542032"/>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Find:  </a:t>
            </a:r>
            <a:pPr indent="0" marL="0">
              <a:buNone/>
            </a:pPr>
            <a:r>
              <a:rPr lang="en-US" sz="1200" dirty="0">
                <a:solidFill>
                  <a:srgbClr val="E8EEFF"/>
                </a:solidFill>
                <a:latin typeface="Segoe UI" pitchFamily="34" charset="0"/>
                <a:ea typeface="Segoe UI" pitchFamily="34" charset="-122"/>
                <a:cs typeface="Segoe UI" pitchFamily="34" charset="-120"/>
              </a:rPr>
              <a:t>An unfinished process that is not waiting, or whose wanted resource has work &gt; 0</a:t>
            </a:r>
            <a:endParaRPr lang="en-US" sz="1200" dirty="0"/>
          </a:p>
        </p:txBody>
      </p:sp>
      <p:sp>
        <p:nvSpPr>
          <p:cNvPr id="34" name="Shape 31"/>
          <p:cNvSpPr/>
          <p:nvPr/>
        </p:nvSpPr>
        <p:spPr>
          <a:xfrm>
            <a:off x="6332220" y="3044952"/>
            <a:ext cx="0" cy="210312"/>
          </a:xfrm>
          <a:prstGeom prst="line">
            <a:avLst/>
          </a:prstGeom>
          <a:noFill/>
          <a:ln w="19050">
            <a:solidFill>
              <a:srgbClr val="24396B"/>
            </a:solidFill>
            <a:prstDash val="solid"/>
          </a:ln>
        </p:spPr>
      </p:sp>
      <p:sp>
        <p:nvSpPr>
          <p:cNvPr id="35" name="Shape 32"/>
          <p:cNvSpPr/>
          <p:nvPr/>
        </p:nvSpPr>
        <p:spPr>
          <a:xfrm>
            <a:off x="6126480" y="3346704"/>
            <a:ext cx="411480" cy="411480"/>
          </a:xfrm>
          <a:prstGeom prst="ellipse">
            <a:avLst/>
          </a:prstGeom>
          <a:solidFill>
            <a:srgbClr val="3B82F6"/>
          </a:solidFill>
          <a:ln w="12700">
            <a:solidFill>
              <a:srgbClr val="3B82F6"/>
            </a:solidFill>
            <a:prstDash val="solid"/>
          </a:ln>
        </p:spPr>
      </p:sp>
      <p:sp>
        <p:nvSpPr>
          <p:cNvPr id="36" name="Text 33"/>
          <p:cNvSpPr txBox="1"/>
          <p:nvPr/>
        </p:nvSpPr>
        <p:spPr>
          <a:xfrm>
            <a:off x="6126480" y="334670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3</a:t>
            </a:r>
            <a:endParaRPr lang="en-US" sz="1300" dirty="0"/>
          </a:p>
        </p:txBody>
      </p:sp>
      <p:sp>
        <p:nvSpPr>
          <p:cNvPr id="37" name="Text 34"/>
          <p:cNvSpPr txBox="1"/>
          <p:nvPr/>
        </p:nvSpPr>
        <p:spPr>
          <a:xfrm>
            <a:off x="6675120" y="3255264"/>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Finish:  </a:t>
            </a:r>
            <a:pPr indent="0" marL="0">
              <a:buNone/>
            </a:pPr>
            <a:r>
              <a:rPr lang="en-US" sz="1200" dirty="0">
                <a:solidFill>
                  <a:srgbClr val="E8EEFF"/>
                </a:solidFill>
                <a:latin typeface="Segoe UI" pitchFamily="34" charset="0"/>
                <a:ea typeface="Segoe UI" pitchFamily="34" charset="-122"/>
                <a:cs typeface="Segoe UI" pitchFamily="34" charset="-120"/>
              </a:rPr>
              <a:t>Mark it finished and add all resources it holds back to work</a:t>
            </a:r>
            <a:endParaRPr lang="en-US" sz="1200" dirty="0"/>
          </a:p>
        </p:txBody>
      </p:sp>
      <p:sp>
        <p:nvSpPr>
          <p:cNvPr id="38" name="Shape 35"/>
          <p:cNvSpPr/>
          <p:nvPr/>
        </p:nvSpPr>
        <p:spPr>
          <a:xfrm>
            <a:off x="6332220" y="3758184"/>
            <a:ext cx="0" cy="210312"/>
          </a:xfrm>
          <a:prstGeom prst="line">
            <a:avLst/>
          </a:prstGeom>
          <a:noFill/>
          <a:ln w="19050">
            <a:solidFill>
              <a:srgbClr val="24396B"/>
            </a:solidFill>
            <a:prstDash val="solid"/>
          </a:ln>
        </p:spPr>
      </p:sp>
      <p:sp>
        <p:nvSpPr>
          <p:cNvPr id="39" name="Shape 36"/>
          <p:cNvSpPr/>
          <p:nvPr/>
        </p:nvSpPr>
        <p:spPr>
          <a:xfrm>
            <a:off x="6126480" y="4059936"/>
            <a:ext cx="411480" cy="411480"/>
          </a:xfrm>
          <a:prstGeom prst="ellipse">
            <a:avLst/>
          </a:prstGeom>
          <a:solidFill>
            <a:srgbClr val="3B82F6"/>
          </a:solidFill>
          <a:ln w="12700">
            <a:solidFill>
              <a:srgbClr val="3B82F6"/>
            </a:solidFill>
            <a:prstDash val="solid"/>
          </a:ln>
        </p:spPr>
      </p:sp>
      <p:sp>
        <p:nvSpPr>
          <p:cNvPr id="40" name="Text 37"/>
          <p:cNvSpPr txBox="1"/>
          <p:nvPr/>
        </p:nvSpPr>
        <p:spPr>
          <a:xfrm>
            <a:off x="6126480" y="405993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4</a:t>
            </a:r>
            <a:endParaRPr lang="en-US" sz="1300" dirty="0"/>
          </a:p>
        </p:txBody>
      </p:sp>
      <p:sp>
        <p:nvSpPr>
          <p:cNvPr id="41" name="Text 38"/>
          <p:cNvSpPr txBox="1"/>
          <p:nvPr/>
        </p:nvSpPr>
        <p:spPr>
          <a:xfrm>
            <a:off x="6675120" y="3968496"/>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Repeat:  </a:t>
            </a:r>
            <a:pPr indent="0" marL="0">
              <a:buNone/>
            </a:pPr>
            <a:r>
              <a:rPr lang="en-US" sz="1200" dirty="0">
                <a:solidFill>
                  <a:srgbClr val="E8EEFF"/>
                </a:solidFill>
                <a:latin typeface="Segoe UI" pitchFamily="34" charset="0"/>
                <a:ea typeface="Segoe UI" pitchFamily="34" charset="-122"/>
                <a:cs typeface="Segoe UI" pitchFamily="34" charset="-120"/>
              </a:rPr>
              <a:t>Keep going until no more processes can finish</a:t>
            </a:r>
            <a:endParaRPr lang="en-US" sz="1200" dirty="0"/>
          </a:p>
        </p:txBody>
      </p:sp>
      <p:sp>
        <p:nvSpPr>
          <p:cNvPr id="42" name="Shape 39"/>
          <p:cNvSpPr/>
          <p:nvPr/>
        </p:nvSpPr>
        <p:spPr>
          <a:xfrm>
            <a:off x="6332220" y="4471416"/>
            <a:ext cx="0" cy="210312"/>
          </a:xfrm>
          <a:prstGeom prst="line">
            <a:avLst/>
          </a:prstGeom>
          <a:noFill/>
          <a:ln w="19050">
            <a:solidFill>
              <a:srgbClr val="24396B"/>
            </a:solidFill>
            <a:prstDash val="solid"/>
          </a:ln>
        </p:spPr>
      </p:sp>
      <p:sp>
        <p:nvSpPr>
          <p:cNvPr id="43" name="Shape 40"/>
          <p:cNvSpPr/>
          <p:nvPr/>
        </p:nvSpPr>
        <p:spPr>
          <a:xfrm>
            <a:off x="6126480" y="4773168"/>
            <a:ext cx="411480" cy="411480"/>
          </a:xfrm>
          <a:prstGeom prst="ellipse">
            <a:avLst/>
          </a:prstGeom>
          <a:solidFill>
            <a:srgbClr val="3B82F6"/>
          </a:solidFill>
          <a:ln w="12700">
            <a:solidFill>
              <a:srgbClr val="3B82F6"/>
            </a:solidFill>
            <a:prstDash val="solid"/>
          </a:ln>
        </p:spPr>
      </p:sp>
      <p:sp>
        <p:nvSpPr>
          <p:cNvPr id="44" name="Text 41"/>
          <p:cNvSpPr txBox="1"/>
          <p:nvPr/>
        </p:nvSpPr>
        <p:spPr>
          <a:xfrm>
            <a:off x="6126480" y="477316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5</a:t>
            </a:r>
            <a:endParaRPr lang="en-US" sz="1300" dirty="0"/>
          </a:p>
        </p:txBody>
      </p:sp>
      <p:sp>
        <p:nvSpPr>
          <p:cNvPr id="45" name="Text 42"/>
          <p:cNvSpPr txBox="1"/>
          <p:nvPr/>
        </p:nvSpPr>
        <p:spPr>
          <a:xfrm>
            <a:off x="6675120" y="4681728"/>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Result:  </a:t>
            </a:r>
            <a:pPr indent="0" marL="0">
              <a:buNone/>
            </a:pPr>
            <a:r>
              <a:rPr lang="en-US" sz="1200" dirty="0">
                <a:solidFill>
                  <a:srgbClr val="E8EEFF"/>
                </a:solidFill>
                <a:latin typeface="Segoe UI" pitchFamily="34" charset="0"/>
                <a:ea typeface="Segoe UI" pitchFamily="34" charset="-122"/>
                <a:cs typeface="Segoe UI" pitchFamily="34" charset="-120"/>
              </a:rPr>
              <a:t>Unfinished processes = deadlocked (dead set)</a:t>
            </a:r>
            <a:endParaRPr lang="en-US" sz="1200" dirty="0"/>
          </a:p>
        </p:txBody>
      </p:sp>
      <p:sp>
        <p:nvSpPr>
          <p:cNvPr id="46" name="Shape 43"/>
          <p:cNvSpPr/>
          <p:nvPr/>
        </p:nvSpPr>
        <p:spPr>
          <a:xfrm>
            <a:off x="6332220" y="5184648"/>
            <a:ext cx="0" cy="210312"/>
          </a:xfrm>
          <a:prstGeom prst="line">
            <a:avLst/>
          </a:prstGeom>
          <a:noFill/>
          <a:ln w="19050">
            <a:solidFill>
              <a:srgbClr val="24396B"/>
            </a:solidFill>
            <a:prstDash val="solid"/>
          </a:ln>
        </p:spPr>
      </p:sp>
      <p:sp>
        <p:nvSpPr>
          <p:cNvPr id="47" name="Shape 44"/>
          <p:cNvSpPr/>
          <p:nvPr/>
        </p:nvSpPr>
        <p:spPr>
          <a:xfrm>
            <a:off x="6126480" y="5486400"/>
            <a:ext cx="411480" cy="411480"/>
          </a:xfrm>
          <a:prstGeom prst="ellipse">
            <a:avLst/>
          </a:prstGeom>
          <a:solidFill>
            <a:srgbClr val="3B82F6"/>
          </a:solidFill>
          <a:ln w="12700">
            <a:solidFill>
              <a:srgbClr val="3B82F6"/>
            </a:solidFill>
            <a:prstDash val="solid"/>
          </a:ln>
        </p:spPr>
      </p:sp>
      <p:sp>
        <p:nvSpPr>
          <p:cNvPr id="48" name="Text 45"/>
          <p:cNvSpPr txBox="1"/>
          <p:nvPr/>
        </p:nvSpPr>
        <p:spPr>
          <a:xfrm>
            <a:off x="6126480" y="54864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6</a:t>
            </a:r>
            <a:endParaRPr lang="en-US" sz="1300" dirty="0"/>
          </a:p>
        </p:txBody>
      </p:sp>
      <p:sp>
        <p:nvSpPr>
          <p:cNvPr id="49" name="Text 46"/>
          <p:cNvSpPr txBox="1"/>
          <p:nvPr/>
        </p:nvSpPr>
        <p:spPr>
          <a:xfrm>
            <a:off x="6675120" y="5394960"/>
            <a:ext cx="5029200" cy="621792"/>
          </a:xfrm>
          <a:prstGeom prst="rect">
            <a:avLst/>
          </a:prstGeom>
          <a:noFill/>
          <a:ln/>
        </p:spPr>
        <p:txBody>
          <a:bodyPr wrap="square" lIns="0" tIns="0" rIns="0" bIns="0" rtlCol="0" anchor="ctr"/>
          <a:lstStyle/>
          <a:p>
            <a:pPr indent="0" marL="0">
              <a:buNone/>
            </a:pPr>
            <a:r>
              <a:rPr lang="en-US" sz="1200" b="1" dirty="0">
                <a:solidFill>
                  <a:srgbClr val="22D3EE"/>
                </a:solidFill>
                <a:latin typeface="Segoe UI" pitchFamily="34" charset="0"/>
                <a:ea typeface="Segoe UI" pitchFamily="34" charset="-122"/>
                <a:cs typeface="Segoe UI" pitchFamily="34" charset="-120"/>
              </a:rPr>
              <a:t>Cycle:  </a:t>
            </a:r>
            <a:pPr indent="0" marL="0">
              <a:buNone/>
            </a:pPr>
            <a:r>
              <a:rPr lang="en-US" sz="1200" dirty="0">
                <a:solidFill>
                  <a:srgbClr val="E8EEFF"/>
                </a:solidFill>
                <a:latin typeface="Segoe UI" pitchFamily="34" charset="0"/>
                <a:ea typeface="Segoe UI" pitchFamily="34" charset="-122"/>
                <a:cs typeface="Segoe UI" pitchFamily="34" charset="-120"/>
              </a:rPr>
              <a:t>findCycle follows waits-for then held-by to print the cycle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05  RECOVERY</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Recovery Strategies</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6 / 8</a:t>
            </a:r>
            <a:endParaRPr lang="en-US" sz="900" dirty="0"/>
          </a:p>
        </p:txBody>
      </p:sp>
      <p:sp>
        <p:nvSpPr>
          <p:cNvPr id="9" name="Shape 6"/>
          <p:cNvSpPr/>
          <p:nvPr/>
        </p:nvSpPr>
        <p:spPr>
          <a:xfrm>
            <a:off x="548640" y="1463040"/>
            <a:ext cx="2697480" cy="3566160"/>
          </a:xfrm>
          <a:prstGeom prst="roundRect">
            <a:avLst>
              <a:gd name="adj" fmla="val 2712"/>
            </a:avLst>
          </a:prstGeom>
          <a:solidFill>
            <a:srgbClr val="0F1A36"/>
          </a:solidFill>
          <a:ln w="19050">
            <a:solidFill>
              <a:srgbClr val="FF6B61"/>
            </a:solidFill>
            <a:prstDash val="solid"/>
          </a:ln>
        </p:spPr>
      </p:sp>
      <p:sp>
        <p:nvSpPr>
          <p:cNvPr id="10" name="Shape 7"/>
          <p:cNvSpPr/>
          <p:nvPr/>
        </p:nvSpPr>
        <p:spPr>
          <a:xfrm>
            <a:off x="685800" y="1645920"/>
            <a:ext cx="2423160" cy="54864"/>
          </a:xfrm>
          <a:prstGeom prst="rect">
            <a:avLst/>
          </a:prstGeom>
          <a:solidFill>
            <a:srgbClr val="FF6B61"/>
          </a:solidFill>
          <a:ln w="12700">
            <a:solidFill>
              <a:srgbClr val="FF6B61"/>
            </a:solidFill>
            <a:prstDash val="solid"/>
          </a:ln>
        </p:spPr>
      </p:sp>
      <p:sp>
        <p:nvSpPr>
          <p:cNvPr id="11" name="Text 8"/>
          <p:cNvSpPr txBox="1"/>
          <p:nvPr/>
        </p:nvSpPr>
        <p:spPr>
          <a:xfrm>
            <a:off x="685800" y="1783080"/>
            <a:ext cx="2423160" cy="548640"/>
          </a:xfrm>
          <a:prstGeom prst="rect">
            <a:avLst/>
          </a:prstGeom>
          <a:noFill/>
          <a:ln/>
        </p:spPr>
        <p:txBody>
          <a:bodyPr wrap="square" lIns="0" tIns="0" rIns="0" bIns="0" rtlCol="0" anchor="ctr"/>
          <a:lstStyle/>
          <a:p>
            <a:pPr indent="0" marL="0">
              <a:buNone/>
            </a:pPr>
            <a:r>
              <a:rPr lang="en-US" sz="1600" b="1" dirty="0">
                <a:solidFill>
                  <a:srgbClr val="E8EEFF"/>
                </a:solidFill>
                <a:latin typeface="Segoe UI" pitchFamily="34" charset="0"/>
                <a:ea typeface="Segoe UI" pitchFamily="34" charset="-122"/>
                <a:cs typeface="Segoe UI" pitchFamily="34" charset="-120"/>
              </a:rPr>
              <a:t>Kill all</a:t>
            </a:r>
            <a:endParaRPr lang="en-US" sz="1600" dirty="0"/>
          </a:p>
        </p:txBody>
      </p:sp>
      <p:sp>
        <p:nvSpPr>
          <p:cNvPr id="12" name="Text 9"/>
          <p:cNvSpPr txBox="1"/>
          <p:nvPr/>
        </p:nvSpPr>
        <p:spPr>
          <a:xfrm>
            <a:off x="685800" y="2331720"/>
            <a:ext cx="2423160" cy="274320"/>
          </a:xfrm>
          <a:prstGeom prst="rect">
            <a:avLst/>
          </a:prstGeom>
          <a:noFill/>
          <a:ln/>
        </p:spPr>
        <p:txBody>
          <a:bodyPr wrap="square" lIns="0" tIns="0" rIns="0" bIns="0" rtlCol="0" anchor="ctr"/>
          <a:lstStyle/>
          <a:p>
            <a:pPr indent="0" marL="0">
              <a:buNone/>
            </a:pPr>
            <a:r>
              <a:rPr lang="en-US" sz="1000" dirty="0">
                <a:solidFill>
                  <a:srgbClr val="FF6B61"/>
                </a:solidFill>
                <a:latin typeface="Consolas" pitchFamily="34" charset="0"/>
                <a:ea typeface="Consolas" pitchFamily="34" charset="-122"/>
                <a:cs typeface="Consolas" pitchFamily="34" charset="-120"/>
              </a:rPr>
              <a:t>kill-all</a:t>
            </a:r>
            <a:endParaRPr lang="en-US" sz="1000" dirty="0"/>
          </a:p>
        </p:txBody>
      </p:sp>
      <p:sp>
        <p:nvSpPr>
          <p:cNvPr id="13" name="Text 10"/>
          <p:cNvSpPr txBox="1"/>
          <p:nvPr/>
        </p:nvSpPr>
        <p:spPr>
          <a:xfrm>
            <a:off x="685800" y="2697480"/>
            <a:ext cx="2423160" cy="777240"/>
          </a:xfrm>
          <a:prstGeom prst="rect">
            <a:avLst/>
          </a:prstGeom>
          <a:noFill/>
          <a:ln/>
        </p:spPr>
        <p:txBody>
          <a:bodyPr wrap="square" lIns="0" tIns="0" rIns="0" bIns="0" rtlCol="0" anchor="t"/>
          <a:lstStyle/>
          <a:p>
            <a:pPr indent="0" marL="0">
              <a:buNone/>
            </a:pPr>
            <a:r>
              <a:rPr lang="en-US" sz="1200" dirty="0">
                <a:solidFill>
                  <a:srgbClr val="E8EEFF"/>
                </a:solidFill>
                <a:latin typeface="Segoe UI" pitchFamily="34" charset="0"/>
                <a:ea typeface="Segoe UI" pitchFamily="34" charset="-122"/>
                <a:cs typeface="Segoe UI" pitchFamily="34" charset="-120"/>
              </a:rPr>
              <a:t>Terminate every deadlocked process.</a:t>
            </a:r>
            <a:endParaRPr lang="en-US" sz="1200" dirty="0"/>
          </a:p>
        </p:txBody>
      </p:sp>
      <p:sp>
        <p:nvSpPr>
          <p:cNvPr id="14" name="Text 11"/>
          <p:cNvSpPr txBox="1"/>
          <p:nvPr/>
        </p:nvSpPr>
        <p:spPr>
          <a:xfrm>
            <a:off x="685800" y="3566160"/>
            <a:ext cx="2423160" cy="1325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Frees all their resources at once</a:t>
            </a:r>
            <a:endParaRPr lang="en-US" sz="1100" dirty="0"/>
          </a:p>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Simple and fast, but loses the most work</a:t>
            </a:r>
            <a:endParaRPr lang="en-US" sz="1100" dirty="0"/>
          </a:p>
        </p:txBody>
      </p:sp>
      <p:sp>
        <p:nvSpPr>
          <p:cNvPr id="15" name="Shape 12"/>
          <p:cNvSpPr/>
          <p:nvPr/>
        </p:nvSpPr>
        <p:spPr>
          <a:xfrm>
            <a:off x="3383280" y="1463040"/>
            <a:ext cx="2697480" cy="3566160"/>
          </a:xfrm>
          <a:prstGeom prst="roundRect">
            <a:avLst>
              <a:gd name="adj" fmla="val 2712"/>
            </a:avLst>
          </a:prstGeom>
          <a:solidFill>
            <a:srgbClr val="0F1A36"/>
          </a:solidFill>
          <a:ln w="19050">
            <a:solidFill>
              <a:srgbClr val="FFB54D"/>
            </a:solidFill>
            <a:prstDash val="solid"/>
          </a:ln>
        </p:spPr>
      </p:sp>
      <p:sp>
        <p:nvSpPr>
          <p:cNvPr id="16" name="Shape 13"/>
          <p:cNvSpPr/>
          <p:nvPr/>
        </p:nvSpPr>
        <p:spPr>
          <a:xfrm>
            <a:off x="3520440" y="1645920"/>
            <a:ext cx="2423160" cy="54864"/>
          </a:xfrm>
          <a:prstGeom prst="rect">
            <a:avLst/>
          </a:prstGeom>
          <a:solidFill>
            <a:srgbClr val="FFB54D"/>
          </a:solidFill>
          <a:ln w="12700">
            <a:solidFill>
              <a:srgbClr val="FFB54D"/>
            </a:solidFill>
            <a:prstDash val="solid"/>
          </a:ln>
        </p:spPr>
      </p:sp>
      <p:sp>
        <p:nvSpPr>
          <p:cNvPr id="17" name="Text 14"/>
          <p:cNvSpPr txBox="1"/>
          <p:nvPr/>
        </p:nvSpPr>
        <p:spPr>
          <a:xfrm>
            <a:off x="3520440" y="1783080"/>
            <a:ext cx="2423160" cy="548640"/>
          </a:xfrm>
          <a:prstGeom prst="rect">
            <a:avLst/>
          </a:prstGeom>
          <a:noFill/>
          <a:ln/>
        </p:spPr>
        <p:txBody>
          <a:bodyPr wrap="square" lIns="0" tIns="0" rIns="0" bIns="0" rtlCol="0" anchor="ctr"/>
          <a:lstStyle/>
          <a:p>
            <a:pPr indent="0" marL="0">
              <a:buNone/>
            </a:pPr>
            <a:r>
              <a:rPr lang="en-US" sz="1600" b="1" dirty="0">
                <a:solidFill>
                  <a:srgbClr val="E8EEFF"/>
                </a:solidFill>
                <a:latin typeface="Segoe UI" pitchFamily="34" charset="0"/>
                <a:ea typeface="Segoe UI" pitchFamily="34" charset="-122"/>
                <a:cs typeface="Segoe UI" pitchFamily="34" charset="-120"/>
              </a:rPr>
              <a:t>Kill one at a time</a:t>
            </a:r>
            <a:endParaRPr lang="en-US" sz="1600" dirty="0"/>
          </a:p>
        </p:txBody>
      </p:sp>
      <p:sp>
        <p:nvSpPr>
          <p:cNvPr id="18" name="Text 15"/>
          <p:cNvSpPr txBox="1"/>
          <p:nvPr/>
        </p:nvSpPr>
        <p:spPr>
          <a:xfrm>
            <a:off x="3520440" y="2331720"/>
            <a:ext cx="2423160" cy="274320"/>
          </a:xfrm>
          <a:prstGeom prst="rect">
            <a:avLst/>
          </a:prstGeom>
          <a:noFill/>
          <a:ln/>
        </p:spPr>
        <p:txBody>
          <a:bodyPr wrap="square" lIns="0" tIns="0" rIns="0" bIns="0" rtlCol="0" anchor="ctr"/>
          <a:lstStyle/>
          <a:p>
            <a:pPr indent="0" marL="0">
              <a:buNone/>
            </a:pPr>
            <a:r>
              <a:rPr lang="en-US" sz="1000" dirty="0">
                <a:solidFill>
                  <a:srgbClr val="FFB54D"/>
                </a:solidFill>
                <a:latin typeface="Consolas" pitchFamily="34" charset="0"/>
                <a:ea typeface="Consolas" pitchFamily="34" charset="-122"/>
                <a:cs typeface="Consolas" pitchFamily="34" charset="-120"/>
              </a:rPr>
              <a:t>kill-one</a:t>
            </a:r>
            <a:endParaRPr lang="en-US" sz="1000" dirty="0"/>
          </a:p>
        </p:txBody>
      </p:sp>
      <p:sp>
        <p:nvSpPr>
          <p:cNvPr id="19" name="Text 16"/>
          <p:cNvSpPr txBox="1"/>
          <p:nvPr/>
        </p:nvSpPr>
        <p:spPr>
          <a:xfrm>
            <a:off x="3520440" y="2697480"/>
            <a:ext cx="2423160" cy="777240"/>
          </a:xfrm>
          <a:prstGeom prst="rect">
            <a:avLst/>
          </a:prstGeom>
          <a:noFill/>
          <a:ln/>
        </p:spPr>
        <p:txBody>
          <a:bodyPr wrap="square" lIns="0" tIns="0" rIns="0" bIns="0" rtlCol="0" anchor="t"/>
          <a:lstStyle/>
          <a:p>
            <a:pPr indent="0" marL="0">
              <a:buNone/>
            </a:pPr>
            <a:r>
              <a:rPr lang="en-US" sz="1200" dirty="0">
                <a:solidFill>
                  <a:srgbClr val="E8EEFF"/>
                </a:solidFill>
                <a:latin typeface="Segoe UI" pitchFamily="34" charset="0"/>
                <a:ea typeface="Segoe UI" pitchFamily="34" charset="-122"/>
                <a:cs typeface="Segoe UI" pitchFamily="34" charset="-120"/>
              </a:rPr>
              <a:t>Kill the victim that holds the most resources.</a:t>
            </a:r>
            <a:endParaRPr lang="en-US" sz="1200" dirty="0"/>
          </a:p>
        </p:txBody>
      </p:sp>
      <p:sp>
        <p:nvSpPr>
          <p:cNvPr id="20" name="Text 17"/>
          <p:cNvSpPr txBox="1"/>
          <p:nvPr/>
        </p:nvSpPr>
        <p:spPr>
          <a:xfrm>
            <a:off x="3520440" y="3566160"/>
            <a:ext cx="2423160" cy="1325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Re-detect after each kill</a:t>
            </a:r>
            <a:endParaRPr lang="en-US" sz="1100" dirty="0"/>
          </a:p>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Stops as soon as deadlock clears</a:t>
            </a:r>
            <a:endParaRPr lang="en-US" sz="1100" dirty="0"/>
          </a:p>
        </p:txBody>
      </p:sp>
      <p:sp>
        <p:nvSpPr>
          <p:cNvPr id="21" name="Shape 18"/>
          <p:cNvSpPr/>
          <p:nvPr/>
        </p:nvSpPr>
        <p:spPr>
          <a:xfrm>
            <a:off x="6217920" y="1463040"/>
            <a:ext cx="2697480" cy="3566160"/>
          </a:xfrm>
          <a:prstGeom prst="roundRect">
            <a:avLst>
              <a:gd name="adj" fmla="val 2712"/>
            </a:avLst>
          </a:prstGeom>
          <a:solidFill>
            <a:srgbClr val="0F1A36"/>
          </a:solidFill>
          <a:ln w="19050">
            <a:solidFill>
              <a:srgbClr val="22D3EE"/>
            </a:solidFill>
            <a:prstDash val="solid"/>
          </a:ln>
        </p:spPr>
      </p:sp>
      <p:sp>
        <p:nvSpPr>
          <p:cNvPr id="22" name="Shape 19"/>
          <p:cNvSpPr/>
          <p:nvPr/>
        </p:nvSpPr>
        <p:spPr>
          <a:xfrm>
            <a:off x="6355080" y="1645920"/>
            <a:ext cx="2423160" cy="54864"/>
          </a:xfrm>
          <a:prstGeom prst="rect">
            <a:avLst/>
          </a:prstGeom>
          <a:solidFill>
            <a:srgbClr val="22D3EE"/>
          </a:solidFill>
          <a:ln w="12700">
            <a:solidFill>
              <a:srgbClr val="22D3EE"/>
            </a:solidFill>
            <a:prstDash val="solid"/>
          </a:ln>
        </p:spPr>
      </p:sp>
      <p:sp>
        <p:nvSpPr>
          <p:cNvPr id="23" name="Text 20"/>
          <p:cNvSpPr txBox="1"/>
          <p:nvPr/>
        </p:nvSpPr>
        <p:spPr>
          <a:xfrm>
            <a:off x="6355080" y="1783080"/>
            <a:ext cx="2423160" cy="548640"/>
          </a:xfrm>
          <a:prstGeom prst="rect">
            <a:avLst/>
          </a:prstGeom>
          <a:noFill/>
          <a:ln/>
        </p:spPr>
        <p:txBody>
          <a:bodyPr wrap="square" lIns="0" tIns="0" rIns="0" bIns="0" rtlCol="0" anchor="ctr"/>
          <a:lstStyle/>
          <a:p>
            <a:pPr indent="0" marL="0">
              <a:buNone/>
            </a:pPr>
            <a:r>
              <a:rPr lang="en-US" sz="1600" b="1" dirty="0">
                <a:solidFill>
                  <a:srgbClr val="E8EEFF"/>
                </a:solidFill>
                <a:latin typeface="Segoe UI" pitchFamily="34" charset="0"/>
                <a:ea typeface="Segoe UI" pitchFamily="34" charset="-122"/>
                <a:cs typeface="Segoe UI" pitchFamily="34" charset="-120"/>
              </a:rPr>
              <a:t>Preempt + rollback</a:t>
            </a:r>
            <a:endParaRPr lang="en-US" sz="1600" dirty="0"/>
          </a:p>
        </p:txBody>
      </p:sp>
      <p:sp>
        <p:nvSpPr>
          <p:cNvPr id="24" name="Text 21"/>
          <p:cNvSpPr txBox="1"/>
          <p:nvPr/>
        </p:nvSpPr>
        <p:spPr>
          <a:xfrm>
            <a:off x="6355080" y="2331720"/>
            <a:ext cx="2423160" cy="274320"/>
          </a:xfrm>
          <a:prstGeom prst="rect">
            <a:avLst/>
          </a:prstGeom>
          <a:noFill/>
          <a:ln/>
        </p:spPr>
        <p:txBody>
          <a:bodyPr wrap="square" lIns="0" tIns="0" rIns="0" bIns="0" rtlCol="0" anchor="ctr"/>
          <a:lstStyle/>
          <a:p>
            <a:pPr indent="0" marL="0">
              <a:buNone/>
            </a:pPr>
            <a:r>
              <a:rPr lang="en-US" sz="1000" dirty="0">
                <a:solidFill>
                  <a:srgbClr val="22D3EE"/>
                </a:solidFill>
                <a:latin typeface="Consolas" pitchFamily="34" charset="0"/>
                <a:ea typeface="Consolas" pitchFamily="34" charset="-122"/>
                <a:cs typeface="Consolas" pitchFamily="34" charset="-120"/>
              </a:rPr>
              <a:t>preempt</a:t>
            </a:r>
            <a:endParaRPr lang="en-US" sz="1000" dirty="0"/>
          </a:p>
        </p:txBody>
      </p:sp>
      <p:sp>
        <p:nvSpPr>
          <p:cNvPr id="25" name="Text 22"/>
          <p:cNvSpPr txBox="1"/>
          <p:nvPr/>
        </p:nvSpPr>
        <p:spPr>
          <a:xfrm>
            <a:off x="6355080" y="2697480"/>
            <a:ext cx="2423160" cy="777240"/>
          </a:xfrm>
          <a:prstGeom prst="rect">
            <a:avLst/>
          </a:prstGeom>
          <a:noFill/>
          <a:ln/>
        </p:spPr>
        <p:txBody>
          <a:bodyPr wrap="square" lIns="0" tIns="0" rIns="0" bIns="0" rtlCol="0" anchor="t"/>
          <a:lstStyle/>
          <a:p>
            <a:pPr indent="0" marL="0">
              <a:buNone/>
            </a:pPr>
            <a:r>
              <a:rPr lang="en-US" sz="1200" dirty="0">
                <a:solidFill>
                  <a:srgbClr val="E8EEFF"/>
                </a:solidFill>
                <a:latin typeface="Segoe UI" pitchFamily="34" charset="0"/>
                <a:ea typeface="Segoe UI" pitchFamily="34" charset="-122"/>
                <a:cs typeface="Segoe UI" pitchFamily="34" charset="-120"/>
              </a:rPr>
              <a:t>Take all of the victim's resources; it restarts.</a:t>
            </a:r>
            <a:endParaRPr lang="en-US" sz="1200" dirty="0"/>
          </a:p>
        </p:txBody>
      </p:sp>
      <p:sp>
        <p:nvSpPr>
          <p:cNvPr id="26" name="Text 23"/>
          <p:cNvSpPr txBox="1"/>
          <p:nvPr/>
        </p:nvSpPr>
        <p:spPr>
          <a:xfrm>
            <a:off x="6355080" y="3566160"/>
            <a:ext cx="2423160" cy="1325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Victim: fewest rollbacks, then least held</a:t>
            </a:r>
            <a:endParaRPr lang="en-US" sz="1100" dirty="0"/>
          </a:p>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Process survives; rollback count +1</a:t>
            </a:r>
            <a:endParaRPr lang="en-US" sz="1100" dirty="0"/>
          </a:p>
        </p:txBody>
      </p:sp>
      <p:sp>
        <p:nvSpPr>
          <p:cNvPr id="27" name="Shape 24"/>
          <p:cNvSpPr/>
          <p:nvPr/>
        </p:nvSpPr>
        <p:spPr>
          <a:xfrm>
            <a:off x="9052560" y="1463040"/>
            <a:ext cx="2697480" cy="3566160"/>
          </a:xfrm>
          <a:prstGeom prst="roundRect">
            <a:avLst>
              <a:gd name="adj" fmla="val 2712"/>
            </a:avLst>
          </a:prstGeom>
          <a:solidFill>
            <a:srgbClr val="0F1A36"/>
          </a:solidFill>
          <a:ln w="19050">
            <a:solidFill>
              <a:srgbClr val="5BD37C"/>
            </a:solidFill>
            <a:prstDash val="solid"/>
          </a:ln>
        </p:spPr>
      </p:sp>
      <p:sp>
        <p:nvSpPr>
          <p:cNvPr id="28" name="Shape 25"/>
          <p:cNvSpPr/>
          <p:nvPr/>
        </p:nvSpPr>
        <p:spPr>
          <a:xfrm>
            <a:off x="9189720" y="1645920"/>
            <a:ext cx="2423160" cy="54864"/>
          </a:xfrm>
          <a:prstGeom prst="rect">
            <a:avLst/>
          </a:prstGeom>
          <a:solidFill>
            <a:srgbClr val="5BD37C"/>
          </a:solidFill>
          <a:ln w="12700">
            <a:solidFill>
              <a:srgbClr val="5BD37C"/>
            </a:solidFill>
            <a:prstDash val="solid"/>
          </a:ln>
        </p:spPr>
      </p:sp>
      <p:sp>
        <p:nvSpPr>
          <p:cNvPr id="29" name="Text 26"/>
          <p:cNvSpPr txBox="1"/>
          <p:nvPr/>
        </p:nvSpPr>
        <p:spPr>
          <a:xfrm>
            <a:off x="9189720" y="1783080"/>
            <a:ext cx="2423160" cy="548640"/>
          </a:xfrm>
          <a:prstGeom prst="rect">
            <a:avLst/>
          </a:prstGeom>
          <a:noFill/>
          <a:ln/>
        </p:spPr>
        <p:txBody>
          <a:bodyPr wrap="square" lIns="0" tIns="0" rIns="0" bIns="0" rtlCol="0" anchor="ctr"/>
          <a:lstStyle/>
          <a:p>
            <a:pPr indent="0" marL="0">
              <a:buNone/>
            </a:pPr>
            <a:r>
              <a:rPr lang="en-US" sz="1600" b="1" dirty="0">
                <a:solidFill>
                  <a:srgbClr val="E8EEFF"/>
                </a:solidFill>
                <a:latin typeface="Segoe UI" pitchFamily="34" charset="0"/>
                <a:ea typeface="Segoe UI" pitchFamily="34" charset="-122"/>
                <a:cs typeface="Segoe UI" pitchFamily="34" charset="-120"/>
              </a:rPr>
              <a:t>Manual (you choose)</a:t>
            </a:r>
            <a:endParaRPr lang="en-US" sz="1600" dirty="0"/>
          </a:p>
        </p:txBody>
      </p:sp>
      <p:sp>
        <p:nvSpPr>
          <p:cNvPr id="30" name="Text 27"/>
          <p:cNvSpPr txBox="1"/>
          <p:nvPr/>
        </p:nvSpPr>
        <p:spPr>
          <a:xfrm>
            <a:off x="9189720" y="2331720"/>
            <a:ext cx="2423160" cy="274320"/>
          </a:xfrm>
          <a:prstGeom prst="rect">
            <a:avLst/>
          </a:prstGeom>
          <a:noFill/>
          <a:ln/>
        </p:spPr>
        <p:txBody>
          <a:bodyPr wrap="square" lIns="0" tIns="0" rIns="0" bIns="0" rtlCol="0" anchor="ctr"/>
          <a:lstStyle/>
          <a:p>
            <a:pPr indent="0" marL="0">
              <a:buNone/>
            </a:pPr>
            <a:r>
              <a:rPr lang="en-US" sz="1000" dirty="0">
                <a:solidFill>
                  <a:srgbClr val="5BD37C"/>
                </a:solidFill>
                <a:latin typeface="Consolas" pitchFamily="34" charset="0"/>
                <a:ea typeface="Consolas" pitchFamily="34" charset="-122"/>
                <a:cs typeface="Consolas" pitchFamily="34" charset="-120"/>
              </a:rPr>
              <a:t>kill P1 / preempt P1</a:t>
            </a:r>
            <a:endParaRPr lang="en-US" sz="1000" dirty="0"/>
          </a:p>
        </p:txBody>
      </p:sp>
      <p:sp>
        <p:nvSpPr>
          <p:cNvPr id="31" name="Text 28"/>
          <p:cNvSpPr txBox="1"/>
          <p:nvPr/>
        </p:nvSpPr>
        <p:spPr>
          <a:xfrm>
            <a:off x="9189720" y="2697480"/>
            <a:ext cx="2423160" cy="777240"/>
          </a:xfrm>
          <a:prstGeom prst="rect">
            <a:avLst/>
          </a:prstGeom>
          <a:noFill/>
          <a:ln/>
        </p:spPr>
        <p:txBody>
          <a:bodyPr wrap="square" lIns="0" tIns="0" rIns="0" bIns="0" rtlCol="0" anchor="t"/>
          <a:lstStyle/>
          <a:p>
            <a:pPr indent="0" marL="0">
              <a:buNone/>
            </a:pPr>
            <a:r>
              <a:rPr lang="en-US" sz="1200" dirty="0">
                <a:solidFill>
                  <a:srgbClr val="E8EEFF"/>
                </a:solidFill>
                <a:latin typeface="Segoe UI" pitchFamily="34" charset="0"/>
                <a:ea typeface="Segoe UI" pitchFamily="34" charset="-122"/>
                <a:cs typeface="Segoe UI" pitchFamily="34" charset="-120"/>
              </a:rPr>
              <a:t>Click a red process, then Kill or Preempt.</a:t>
            </a:r>
            <a:endParaRPr lang="en-US" sz="1200" dirty="0"/>
          </a:p>
        </p:txBody>
      </p:sp>
      <p:sp>
        <p:nvSpPr>
          <p:cNvPr id="32" name="Text 29"/>
          <p:cNvSpPr txBox="1"/>
          <p:nvPr/>
        </p:nvSpPr>
        <p:spPr>
          <a:xfrm>
            <a:off x="9189720" y="3566160"/>
            <a:ext cx="2423160" cy="132588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Re-checks automatically</a:t>
            </a:r>
            <a:endParaRPr lang="en-US" sz="1100" dirty="0"/>
          </a:p>
          <a:p>
            <a:pPr marL="342900" indent="-342900">
              <a:spcAft>
                <a:spcPts val="500"/>
              </a:spcAft>
              <a:buSzPct val="100000"/>
              <a:buChar char="•"/>
            </a:pPr>
            <a:r>
              <a:rPr lang="en-US" sz="1100" dirty="0">
                <a:solidFill>
                  <a:srgbClr val="93A4C8"/>
                </a:solidFill>
                <a:latin typeface="Segoe UI" pitchFamily="34" charset="0"/>
                <a:ea typeface="Segoe UI" pitchFamily="34" charset="-122"/>
                <a:cs typeface="Segoe UI" pitchFamily="34" charset="-120"/>
              </a:rPr>
              <a:t>"Still deadlocked" means pick another</a:t>
            </a:r>
            <a:endParaRPr lang="en-US" sz="1100" dirty="0"/>
          </a:p>
        </p:txBody>
      </p:sp>
      <p:sp>
        <p:nvSpPr>
          <p:cNvPr id="33" name="Shape 30"/>
          <p:cNvSpPr/>
          <p:nvPr/>
        </p:nvSpPr>
        <p:spPr>
          <a:xfrm>
            <a:off x="548640" y="5257800"/>
            <a:ext cx="11109960" cy="960120"/>
          </a:xfrm>
          <a:prstGeom prst="roundRect">
            <a:avLst>
              <a:gd name="adj" fmla="val 7619"/>
            </a:avLst>
          </a:prstGeom>
          <a:solidFill>
            <a:srgbClr val="142347"/>
          </a:solidFill>
          <a:ln w="12700">
            <a:solidFill>
              <a:srgbClr val="24396B"/>
            </a:solidFill>
            <a:prstDash val="solid"/>
          </a:ln>
        </p:spPr>
      </p:sp>
      <p:sp>
        <p:nvSpPr>
          <p:cNvPr id="34" name="Text 31"/>
          <p:cNvSpPr txBox="1"/>
          <p:nvPr/>
        </p:nvSpPr>
        <p:spPr>
          <a:xfrm>
            <a:off x="777240" y="5257800"/>
            <a:ext cx="2011680" cy="960120"/>
          </a:xfrm>
          <a:prstGeom prst="rect">
            <a:avLst/>
          </a:prstGeom>
          <a:noFill/>
          <a:ln/>
        </p:spPr>
        <p:txBody>
          <a:bodyPr wrap="square" lIns="0" tIns="0" rIns="0" bIns="0" rtlCol="0" anchor="ctr"/>
          <a:lstStyle/>
          <a:p>
            <a:pPr indent="0" marL="0">
              <a:buNone/>
            </a:pPr>
            <a:r>
              <a:rPr lang="en-US" sz="1300" b="1" dirty="0">
                <a:solidFill>
                  <a:srgbClr val="22D3EE"/>
                </a:solidFill>
                <a:latin typeface="Segoe UI" pitchFamily="34" charset="0"/>
                <a:ea typeface="Segoe UI" pitchFamily="34" charset="-122"/>
                <a:cs typeface="Segoe UI" pitchFamily="34" charset="-120"/>
              </a:rPr>
              <a:t>After every victim:</a:t>
            </a:r>
            <a:endParaRPr lang="en-US" sz="1300" dirty="0"/>
          </a:p>
        </p:txBody>
      </p:sp>
      <p:sp>
        <p:nvSpPr>
          <p:cNvPr id="35" name="Shape 32"/>
          <p:cNvSpPr/>
          <p:nvPr/>
        </p:nvSpPr>
        <p:spPr>
          <a:xfrm>
            <a:off x="2743200" y="5532120"/>
            <a:ext cx="1874520" cy="411480"/>
          </a:xfrm>
          <a:prstGeom prst="roundRect">
            <a:avLst>
              <a:gd name="adj" fmla="val 17778"/>
            </a:avLst>
          </a:prstGeom>
          <a:solidFill>
            <a:srgbClr val="0F1A36"/>
          </a:solidFill>
          <a:ln w="12700">
            <a:solidFill>
              <a:srgbClr val="24396B"/>
            </a:solidFill>
            <a:prstDash val="solid"/>
          </a:ln>
        </p:spPr>
      </p:sp>
      <p:sp>
        <p:nvSpPr>
          <p:cNvPr id="36" name="Text 33"/>
          <p:cNvSpPr txBox="1"/>
          <p:nvPr/>
        </p:nvSpPr>
        <p:spPr>
          <a:xfrm>
            <a:off x="2743200" y="5532120"/>
            <a:ext cx="1874520" cy="411480"/>
          </a:xfrm>
          <a:prstGeom prst="rect">
            <a:avLst/>
          </a:prstGeom>
          <a:noFill/>
          <a:ln/>
        </p:spPr>
        <p:txBody>
          <a:bodyPr wrap="square" lIns="0" tIns="0" rIns="0" bIns="0" rtlCol="0" anchor="ctr"/>
          <a:lstStyle/>
          <a:p>
            <a:pPr algn="ctr" indent="0" marL="0">
              <a:buNone/>
            </a:pPr>
            <a:r>
              <a:rPr lang="en-US" sz="1100" dirty="0">
                <a:solidFill>
                  <a:srgbClr val="E8EEFF"/>
                </a:solidFill>
                <a:latin typeface="Segoe UI" pitchFamily="34" charset="0"/>
                <a:ea typeface="Segoe UI" pitchFamily="34" charset="-122"/>
                <a:cs typeface="Segoe UI" pitchFamily="34" charset="-120"/>
              </a:rPr>
              <a:t>Free resources</a:t>
            </a:r>
            <a:endParaRPr lang="en-US" sz="1100" dirty="0"/>
          </a:p>
        </p:txBody>
      </p:sp>
      <p:sp>
        <p:nvSpPr>
          <p:cNvPr id="37" name="Shape 34"/>
          <p:cNvSpPr/>
          <p:nvPr/>
        </p:nvSpPr>
        <p:spPr>
          <a:xfrm>
            <a:off x="4617720" y="5737860"/>
            <a:ext cx="365760" cy="0"/>
          </a:xfrm>
          <a:prstGeom prst="line">
            <a:avLst/>
          </a:prstGeom>
          <a:noFill/>
          <a:ln w="19050">
            <a:solidFill>
              <a:srgbClr val="22D3EE"/>
            </a:solidFill>
            <a:prstDash val="solid"/>
            <a:tailEnd type="triangle"/>
          </a:ln>
        </p:spPr>
      </p:sp>
      <p:sp>
        <p:nvSpPr>
          <p:cNvPr id="38" name="Shape 35"/>
          <p:cNvSpPr/>
          <p:nvPr/>
        </p:nvSpPr>
        <p:spPr>
          <a:xfrm>
            <a:off x="4983480" y="5532120"/>
            <a:ext cx="1874520" cy="411480"/>
          </a:xfrm>
          <a:prstGeom prst="roundRect">
            <a:avLst>
              <a:gd name="adj" fmla="val 17778"/>
            </a:avLst>
          </a:prstGeom>
          <a:solidFill>
            <a:srgbClr val="0F1A36"/>
          </a:solidFill>
          <a:ln w="12700">
            <a:solidFill>
              <a:srgbClr val="24396B"/>
            </a:solidFill>
            <a:prstDash val="solid"/>
          </a:ln>
        </p:spPr>
      </p:sp>
      <p:sp>
        <p:nvSpPr>
          <p:cNvPr id="39" name="Text 36"/>
          <p:cNvSpPr txBox="1"/>
          <p:nvPr/>
        </p:nvSpPr>
        <p:spPr>
          <a:xfrm>
            <a:off x="4983480" y="5532120"/>
            <a:ext cx="1874520" cy="411480"/>
          </a:xfrm>
          <a:prstGeom prst="rect">
            <a:avLst/>
          </a:prstGeom>
          <a:noFill/>
          <a:ln/>
        </p:spPr>
        <p:txBody>
          <a:bodyPr wrap="square" lIns="0" tIns="0" rIns="0" bIns="0" rtlCol="0" anchor="ctr"/>
          <a:lstStyle/>
          <a:p>
            <a:pPr algn="ctr" indent="0" marL="0">
              <a:buNone/>
            </a:pPr>
            <a:r>
              <a:rPr lang="en-US" sz="1100" dirty="0">
                <a:solidFill>
                  <a:srgbClr val="E8EEFF"/>
                </a:solidFill>
                <a:latin typeface="Segoe UI" pitchFamily="34" charset="0"/>
                <a:ea typeface="Segoe UI" pitchFamily="34" charset="-122"/>
                <a:cs typeface="Segoe UI" pitchFamily="34" charset="-120"/>
              </a:rPr>
              <a:t>Grant to blocked processes</a:t>
            </a:r>
            <a:endParaRPr lang="en-US" sz="1100" dirty="0"/>
          </a:p>
        </p:txBody>
      </p:sp>
      <p:sp>
        <p:nvSpPr>
          <p:cNvPr id="40" name="Shape 37"/>
          <p:cNvSpPr/>
          <p:nvPr/>
        </p:nvSpPr>
        <p:spPr>
          <a:xfrm>
            <a:off x="6858000" y="5737860"/>
            <a:ext cx="365760" cy="0"/>
          </a:xfrm>
          <a:prstGeom prst="line">
            <a:avLst/>
          </a:prstGeom>
          <a:noFill/>
          <a:ln w="19050">
            <a:solidFill>
              <a:srgbClr val="22D3EE"/>
            </a:solidFill>
            <a:prstDash val="solid"/>
            <a:tailEnd type="triangle"/>
          </a:ln>
        </p:spPr>
      </p:sp>
      <p:sp>
        <p:nvSpPr>
          <p:cNvPr id="41" name="Shape 38"/>
          <p:cNvSpPr/>
          <p:nvPr/>
        </p:nvSpPr>
        <p:spPr>
          <a:xfrm>
            <a:off x="7223760" y="5532120"/>
            <a:ext cx="1874520" cy="411480"/>
          </a:xfrm>
          <a:prstGeom prst="roundRect">
            <a:avLst>
              <a:gd name="adj" fmla="val 17778"/>
            </a:avLst>
          </a:prstGeom>
          <a:solidFill>
            <a:srgbClr val="0F1A36"/>
          </a:solidFill>
          <a:ln w="12700">
            <a:solidFill>
              <a:srgbClr val="24396B"/>
            </a:solidFill>
            <a:prstDash val="solid"/>
          </a:ln>
        </p:spPr>
      </p:sp>
      <p:sp>
        <p:nvSpPr>
          <p:cNvPr id="42" name="Text 39"/>
          <p:cNvSpPr txBox="1"/>
          <p:nvPr/>
        </p:nvSpPr>
        <p:spPr>
          <a:xfrm>
            <a:off x="7223760" y="5532120"/>
            <a:ext cx="1874520" cy="411480"/>
          </a:xfrm>
          <a:prstGeom prst="rect">
            <a:avLst/>
          </a:prstGeom>
          <a:noFill/>
          <a:ln/>
        </p:spPr>
        <p:txBody>
          <a:bodyPr wrap="square" lIns="0" tIns="0" rIns="0" bIns="0" rtlCol="0" anchor="ctr"/>
          <a:lstStyle/>
          <a:p>
            <a:pPr algn="ctr" indent="0" marL="0">
              <a:buNone/>
            </a:pPr>
            <a:r>
              <a:rPr lang="en-US" sz="1100" dirty="0">
                <a:solidFill>
                  <a:srgbClr val="E8EEFF"/>
                </a:solidFill>
                <a:latin typeface="Segoe UI" pitchFamily="34" charset="0"/>
                <a:ea typeface="Segoe UI" pitchFamily="34" charset="-122"/>
                <a:cs typeface="Segoe UI" pitchFamily="34" charset="-120"/>
              </a:rPr>
              <a:t>Re-run detect</a:t>
            </a:r>
            <a:endParaRPr lang="en-US" sz="1100" dirty="0"/>
          </a:p>
        </p:txBody>
      </p:sp>
      <p:sp>
        <p:nvSpPr>
          <p:cNvPr id="43" name="Shape 40"/>
          <p:cNvSpPr/>
          <p:nvPr/>
        </p:nvSpPr>
        <p:spPr>
          <a:xfrm>
            <a:off x="9098280" y="5737860"/>
            <a:ext cx="365760" cy="0"/>
          </a:xfrm>
          <a:prstGeom prst="line">
            <a:avLst/>
          </a:prstGeom>
          <a:noFill/>
          <a:ln w="19050">
            <a:solidFill>
              <a:srgbClr val="22D3EE"/>
            </a:solidFill>
            <a:prstDash val="solid"/>
            <a:tailEnd type="triangle"/>
          </a:ln>
        </p:spPr>
      </p:sp>
      <p:sp>
        <p:nvSpPr>
          <p:cNvPr id="44" name="Shape 41"/>
          <p:cNvSpPr/>
          <p:nvPr/>
        </p:nvSpPr>
        <p:spPr>
          <a:xfrm>
            <a:off x="9464040" y="5532120"/>
            <a:ext cx="1874520" cy="411480"/>
          </a:xfrm>
          <a:prstGeom prst="roundRect">
            <a:avLst>
              <a:gd name="adj" fmla="val 17778"/>
            </a:avLst>
          </a:prstGeom>
          <a:solidFill>
            <a:srgbClr val="0F1A36"/>
          </a:solidFill>
          <a:ln w="12700">
            <a:solidFill>
              <a:srgbClr val="24396B"/>
            </a:solidFill>
            <a:prstDash val="solid"/>
          </a:ln>
        </p:spPr>
      </p:sp>
      <p:sp>
        <p:nvSpPr>
          <p:cNvPr id="45" name="Text 42"/>
          <p:cNvSpPr txBox="1"/>
          <p:nvPr/>
        </p:nvSpPr>
        <p:spPr>
          <a:xfrm>
            <a:off x="9464040" y="5532120"/>
            <a:ext cx="1874520" cy="411480"/>
          </a:xfrm>
          <a:prstGeom prst="rect">
            <a:avLst/>
          </a:prstGeom>
          <a:noFill/>
          <a:ln/>
        </p:spPr>
        <p:txBody>
          <a:bodyPr wrap="square" lIns="0" tIns="0" rIns="0" bIns="0" rtlCol="0" anchor="ctr"/>
          <a:lstStyle/>
          <a:p>
            <a:pPr algn="ctr" indent="0" marL="0">
              <a:buNone/>
            </a:pPr>
            <a:r>
              <a:rPr lang="en-US" sz="1100" dirty="0">
                <a:solidFill>
                  <a:srgbClr val="E8EEFF"/>
                </a:solidFill>
                <a:latin typeface="Segoe UI" pitchFamily="34" charset="0"/>
                <a:ea typeface="Segoe UI" pitchFamily="34" charset="-122"/>
                <a:cs typeface="Segoe UI" pitchFamily="34" charset="-120"/>
              </a:rPr>
              <a:t>Repeat until safe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06  RESULTS</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Demonstration and Results</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7 / 8</a:t>
            </a:r>
            <a:endParaRPr lang="en-US" sz="900" dirty="0"/>
          </a:p>
        </p:txBody>
      </p:sp>
      <p:sp>
        <p:nvSpPr>
          <p:cNvPr id="9" name="Shape 6"/>
          <p:cNvSpPr/>
          <p:nvPr/>
        </p:nvSpPr>
        <p:spPr>
          <a:xfrm>
            <a:off x="548640" y="1417320"/>
            <a:ext cx="4206240" cy="3657600"/>
          </a:xfrm>
          <a:prstGeom prst="roundRect">
            <a:avLst>
              <a:gd name="adj" fmla="val 2000"/>
            </a:avLst>
          </a:prstGeom>
          <a:solidFill>
            <a:srgbClr val="0F1A36"/>
          </a:solidFill>
          <a:ln w="12700">
            <a:solidFill>
              <a:srgbClr val="24396B"/>
            </a:solidFill>
            <a:prstDash val="solid"/>
          </a:ln>
        </p:spPr>
      </p:sp>
      <p:sp>
        <p:nvSpPr>
          <p:cNvPr id="10" name="Text 7"/>
          <p:cNvSpPr txBox="1"/>
          <p:nvPr/>
        </p:nvSpPr>
        <p:spPr>
          <a:xfrm>
            <a:off x="731520" y="1481328"/>
            <a:ext cx="2743200" cy="274320"/>
          </a:xfrm>
          <a:prstGeom prst="rect">
            <a:avLst/>
          </a:prstGeom>
          <a:noFill/>
          <a:ln/>
        </p:spPr>
        <p:txBody>
          <a:bodyPr wrap="square" lIns="0" tIns="0" rIns="0" bIns="0" rtlCol="0" anchor="ctr"/>
          <a:lstStyle/>
          <a:p>
            <a:pPr indent="0" marL="0">
              <a:buNone/>
            </a:pPr>
            <a:r>
              <a:rPr lang="en-US" sz="1200" b="1" dirty="0">
                <a:solidFill>
                  <a:srgbClr val="93A4C8"/>
                </a:solidFill>
                <a:latin typeface="Segoe UI" pitchFamily="34" charset="0"/>
                <a:ea typeface="Segoe UI" pitchFamily="34" charset="-122"/>
                <a:cs typeface="Segoe UI" pitchFamily="34" charset="-120"/>
              </a:rPr>
              <a:t>Preset: 3-process circle</a:t>
            </a:r>
            <a:endParaRPr lang="en-US" sz="1200" dirty="0"/>
          </a:p>
        </p:txBody>
      </p:sp>
      <p:sp>
        <p:nvSpPr>
          <p:cNvPr id="11" name="Shape 8"/>
          <p:cNvSpPr/>
          <p:nvPr/>
        </p:nvSpPr>
        <p:spPr>
          <a:xfrm>
            <a:off x="3566160" y="1481328"/>
            <a:ext cx="1097280" cy="274320"/>
          </a:xfrm>
          <a:prstGeom prst="roundRect">
            <a:avLst>
              <a:gd name="adj" fmla="val 50000"/>
            </a:avLst>
          </a:prstGeom>
          <a:solidFill>
            <a:srgbClr val="142347"/>
          </a:solidFill>
          <a:ln w="12700">
            <a:solidFill>
              <a:srgbClr val="FF6B61"/>
            </a:solidFill>
            <a:prstDash val="solid"/>
          </a:ln>
        </p:spPr>
      </p:sp>
      <p:sp>
        <p:nvSpPr>
          <p:cNvPr id="12" name="Text 9"/>
          <p:cNvSpPr txBox="1"/>
          <p:nvPr/>
        </p:nvSpPr>
        <p:spPr>
          <a:xfrm>
            <a:off x="3566160" y="1481328"/>
            <a:ext cx="1097280" cy="274320"/>
          </a:xfrm>
          <a:prstGeom prst="rect">
            <a:avLst/>
          </a:prstGeom>
          <a:noFill/>
          <a:ln/>
        </p:spPr>
        <p:txBody>
          <a:bodyPr wrap="square" lIns="0" tIns="0" rIns="0" bIns="0" rtlCol="0" anchor="ctr"/>
          <a:lstStyle/>
          <a:p>
            <a:pPr algn="ctr" indent="0" marL="0">
              <a:buNone/>
            </a:pPr>
            <a:r>
              <a:rPr lang="en-US" sz="1000" b="1" dirty="0">
                <a:solidFill>
                  <a:srgbClr val="FF6B61"/>
                </a:solidFill>
                <a:latin typeface="Segoe UI" pitchFamily="34" charset="0"/>
                <a:ea typeface="Segoe UI" pitchFamily="34" charset="-122"/>
                <a:cs typeface="Segoe UI" pitchFamily="34" charset="-120"/>
              </a:rPr>
              <a:t>DEADLOCK</a:t>
            </a:r>
            <a:endParaRPr lang="en-US" sz="1000" dirty="0"/>
          </a:p>
        </p:txBody>
      </p:sp>
      <p:sp>
        <p:nvSpPr>
          <p:cNvPr id="13" name="Shape 10"/>
          <p:cNvSpPr/>
          <p:nvPr/>
        </p:nvSpPr>
        <p:spPr>
          <a:xfrm flipV="1">
            <a:off x="1645920" y="2606040"/>
            <a:ext cx="0" cy="1508760"/>
          </a:xfrm>
          <a:prstGeom prst="line">
            <a:avLst/>
          </a:prstGeom>
          <a:noFill/>
          <a:ln w="25400">
            <a:solidFill>
              <a:srgbClr val="FF6B61"/>
            </a:solidFill>
            <a:prstDash val="solid"/>
            <a:tailEnd type="triangle"/>
          </a:ln>
        </p:spPr>
      </p:sp>
      <p:sp>
        <p:nvSpPr>
          <p:cNvPr id="14" name="Shape 11"/>
          <p:cNvSpPr/>
          <p:nvPr/>
        </p:nvSpPr>
        <p:spPr>
          <a:xfrm flipV="1">
            <a:off x="2651760" y="2606040"/>
            <a:ext cx="0" cy="1508760"/>
          </a:xfrm>
          <a:prstGeom prst="line">
            <a:avLst/>
          </a:prstGeom>
          <a:noFill/>
          <a:ln w="25400">
            <a:solidFill>
              <a:srgbClr val="FF6B61"/>
            </a:solidFill>
            <a:prstDash val="solid"/>
            <a:tailEnd type="triangle"/>
          </a:ln>
        </p:spPr>
      </p:sp>
      <p:sp>
        <p:nvSpPr>
          <p:cNvPr id="15" name="Shape 12"/>
          <p:cNvSpPr/>
          <p:nvPr/>
        </p:nvSpPr>
        <p:spPr>
          <a:xfrm flipV="1">
            <a:off x="3657600" y="2606040"/>
            <a:ext cx="0" cy="1508760"/>
          </a:xfrm>
          <a:prstGeom prst="line">
            <a:avLst/>
          </a:prstGeom>
          <a:noFill/>
          <a:ln w="25400">
            <a:solidFill>
              <a:srgbClr val="FF6B61"/>
            </a:solidFill>
            <a:prstDash val="solid"/>
            <a:tailEnd type="triangle"/>
          </a:ln>
        </p:spPr>
      </p:sp>
      <p:sp>
        <p:nvSpPr>
          <p:cNvPr id="16" name="Shape 13"/>
          <p:cNvSpPr/>
          <p:nvPr/>
        </p:nvSpPr>
        <p:spPr>
          <a:xfrm>
            <a:off x="1808904" y="2572386"/>
            <a:ext cx="679873" cy="1576069"/>
          </a:xfrm>
          <a:prstGeom prst="line">
            <a:avLst/>
          </a:prstGeom>
          <a:noFill/>
          <a:ln w="25400">
            <a:solidFill>
              <a:srgbClr val="FF6B61"/>
            </a:solidFill>
            <a:prstDash val="dash"/>
            <a:tailEnd type="triangle"/>
          </a:ln>
        </p:spPr>
      </p:sp>
      <p:sp>
        <p:nvSpPr>
          <p:cNvPr id="17" name="Shape 14"/>
          <p:cNvSpPr/>
          <p:nvPr/>
        </p:nvSpPr>
        <p:spPr>
          <a:xfrm>
            <a:off x="2814744" y="2572386"/>
            <a:ext cx="679873" cy="1576069"/>
          </a:xfrm>
          <a:prstGeom prst="line">
            <a:avLst/>
          </a:prstGeom>
          <a:noFill/>
          <a:ln w="25400">
            <a:solidFill>
              <a:srgbClr val="FF6B61"/>
            </a:solidFill>
            <a:prstDash val="dash"/>
            <a:tailEnd type="triangle"/>
          </a:ln>
        </p:spPr>
      </p:sp>
      <p:sp>
        <p:nvSpPr>
          <p:cNvPr id="18" name="Shape 15"/>
          <p:cNvSpPr/>
          <p:nvPr/>
        </p:nvSpPr>
        <p:spPr>
          <a:xfrm flipH="1">
            <a:off x="1914712" y="2506115"/>
            <a:ext cx="1474095" cy="1708610"/>
          </a:xfrm>
          <a:prstGeom prst="line">
            <a:avLst/>
          </a:prstGeom>
          <a:noFill/>
          <a:ln w="25400">
            <a:solidFill>
              <a:srgbClr val="FF6B61"/>
            </a:solidFill>
            <a:prstDash val="dash"/>
            <a:tailEnd type="triangle"/>
          </a:ln>
        </p:spPr>
      </p:sp>
      <p:sp>
        <p:nvSpPr>
          <p:cNvPr id="19" name="Shape 16"/>
          <p:cNvSpPr/>
          <p:nvPr/>
        </p:nvSpPr>
        <p:spPr>
          <a:xfrm>
            <a:off x="1316736" y="1865376"/>
            <a:ext cx="658368" cy="658368"/>
          </a:xfrm>
          <a:prstGeom prst="ellipse">
            <a:avLst/>
          </a:prstGeom>
          <a:solidFill>
            <a:srgbClr val="142347"/>
          </a:solidFill>
          <a:ln w="31750">
            <a:solidFill>
              <a:srgbClr val="FF6B61"/>
            </a:solidFill>
            <a:prstDash val="solid"/>
          </a:ln>
        </p:spPr>
      </p:sp>
      <p:sp>
        <p:nvSpPr>
          <p:cNvPr id="20" name="Shape 17"/>
          <p:cNvSpPr/>
          <p:nvPr/>
        </p:nvSpPr>
        <p:spPr>
          <a:xfrm>
            <a:off x="2322576" y="1865376"/>
            <a:ext cx="658368" cy="658368"/>
          </a:xfrm>
          <a:prstGeom prst="ellipse">
            <a:avLst/>
          </a:prstGeom>
          <a:solidFill>
            <a:srgbClr val="142347"/>
          </a:solidFill>
          <a:ln w="31750">
            <a:solidFill>
              <a:srgbClr val="FF6B61"/>
            </a:solidFill>
            <a:prstDash val="solid"/>
          </a:ln>
        </p:spPr>
      </p:sp>
      <p:sp>
        <p:nvSpPr>
          <p:cNvPr id="21" name="Shape 18"/>
          <p:cNvSpPr/>
          <p:nvPr/>
        </p:nvSpPr>
        <p:spPr>
          <a:xfrm>
            <a:off x="3328416" y="1865376"/>
            <a:ext cx="658368" cy="658368"/>
          </a:xfrm>
          <a:prstGeom prst="ellipse">
            <a:avLst/>
          </a:prstGeom>
          <a:solidFill>
            <a:srgbClr val="142347"/>
          </a:solidFill>
          <a:ln w="31750">
            <a:solidFill>
              <a:srgbClr val="FF6B61"/>
            </a:solidFill>
            <a:prstDash val="solid"/>
          </a:ln>
        </p:spPr>
      </p:sp>
      <p:sp>
        <p:nvSpPr>
          <p:cNvPr id="22" name="Text 19"/>
          <p:cNvSpPr txBox="1"/>
          <p:nvPr/>
        </p:nvSpPr>
        <p:spPr>
          <a:xfrm>
            <a:off x="1316736" y="186537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P1</a:t>
            </a:r>
            <a:endParaRPr lang="en-US" sz="1300" dirty="0"/>
          </a:p>
        </p:txBody>
      </p:sp>
      <p:sp>
        <p:nvSpPr>
          <p:cNvPr id="23" name="Text 20"/>
          <p:cNvSpPr txBox="1"/>
          <p:nvPr/>
        </p:nvSpPr>
        <p:spPr>
          <a:xfrm>
            <a:off x="2322576" y="186537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P2</a:t>
            </a:r>
            <a:endParaRPr lang="en-US" sz="1300" dirty="0"/>
          </a:p>
        </p:txBody>
      </p:sp>
      <p:sp>
        <p:nvSpPr>
          <p:cNvPr id="24" name="Text 21"/>
          <p:cNvSpPr txBox="1"/>
          <p:nvPr/>
        </p:nvSpPr>
        <p:spPr>
          <a:xfrm>
            <a:off x="3328416" y="1865376"/>
            <a:ext cx="658368" cy="658368"/>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P3</a:t>
            </a:r>
            <a:endParaRPr lang="en-US" sz="1300" dirty="0"/>
          </a:p>
        </p:txBody>
      </p:sp>
      <p:sp>
        <p:nvSpPr>
          <p:cNvPr id="25" name="Shape 22"/>
          <p:cNvSpPr/>
          <p:nvPr/>
        </p:nvSpPr>
        <p:spPr>
          <a:xfrm>
            <a:off x="1325880" y="4206240"/>
            <a:ext cx="640080" cy="640080"/>
          </a:xfrm>
          <a:prstGeom prst="roundRect">
            <a:avLst>
              <a:gd name="adj" fmla="val 8571"/>
            </a:avLst>
          </a:prstGeom>
          <a:solidFill>
            <a:srgbClr val="142347"/>
          </a:solidFill>
          <a:ln w="19050">
            <a:solidFill>
              <a:srgbClr val="E8EEFF"/>
            </a:solidFill>
            <a:prstDash val="solid"/>
          </a:ln>
        </p:spPr>
      </p:sp>
      <p:sp>
        <p:nvSpPr>
          <p:cNvPr id="26" name="Text 23"/>
          <p:cNvSpPr txBox="1"/>
          <p:nvPr/>
        </p:nvSpPr>
        <p:spPr>
          <a:xfrm>
            <a:off x="1325880" y="420624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R1</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27" name="Shape 24"/>
          <p:cNvSpPr/>
          <p:nvPr/>
        </p:nvSpPr>
        <p:spPr>
          <a:xfrm>
            <a:off x="2331720" y="4206240"/>
            <a:ext cx="640080" cy="640080"/>
          </a:xfrm>
          <a:prstGeom prst="roundRect">
            <a:avLst>
              <a:gd name="adj" fmla="val 8571"/>
            </a:avLst>
          </a:prstGeom>
          <a:solidFill>
            <a:srgbClr val="142347"/>
          </a:solidFill>
          <a:ln w="19050">
            <a:solidFill>
              <a:srgbClr val="E8EEFF"/>
            </a:solidFill>
            <a:prstDash val="solid"/>
          </a:ln>
        </p:spPr>
      </p:sp>
      <p:sp>
        <p:nvSpPr>
          <p:cNvPr id="28" name="Text 25"/>
          <p:cNvSpPr txBox="1"/>
          <p:nvPr/>
        </p:nvSpPr>
        <p:spPr>
          <a:xfrm>
            <a:off x="2331720" y="420624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R2</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29" name="Shape 26"/>
          <p:cNvSpPr/>
          <p:nvPr/>
        </p:nvSpPr>
        <p:spPr>
          <a:xfrm>
            <a:off x="3337560" y="4206240"/>
            <a:ext cx="640080" cy="640080"/>
          </a:xfrm>
          <a:prstGeom prst="roundRect">
            <a:avLst>
              <a:gd name="adj" fmla="val 8571"/>
            </a:avLst>
          </a:prstGeom>
          <a:solidFill>
            <a:srgbClr val="142347"/>
          </a:solidFill>
          <a:ln w="19050">
            <a:solidFill>
              <a:srgbClr val="E8EEFF"/>
            </a:solidFill>
            <a:prstDash val="solid"/>
          </a:ln>
        </p:spPr>
      </p:sp>
      <p:sp>
        <p:nvSpPr>
          <p:cNvPr id="30" name="Text 27"/>
          <p:cNvSpPr txBox="1"/>
          <p:nvPr/>
        </p:nvSpPr>
        <p:spPr>
          <a:xfrm>
            <a:off x="3337560" y="4206240"/>
            <a:ext cx="640080" cy="640080"/>
          </a:xfrm>
          <a:prstGeom prst="rect">
            <a:avLst/>
          </a:prstGeom>
          <a:noFill/>
          <a:ln/>
        </p:spPr>
        <p:txBody>
          <a:bodyPr wrap="square" lIns="0" tIns="0" rIns="0" bIns="0" rtlCol="0" anchor="ctr"/>
          <a:lstStyle/>
          <a:p>
            <a:pPr algn="ctr" indent="0" marL="0">
              <a:buNone/>
            </a:pPr>
            <a:r>
              <a:rPr lang="en-US" sz="1300" b="1" dirty="0">
                <a:solidFill>
                  <a:srgbClr val="E8EEFF"/>
                </a:solidFill>
                <a:latin typeface="Segoe UI" pitchFamily="34" charset="0"/>
                <a:ea typeface="Segoe UI" pitchFamily="34" charset="-122"/>
                <a:cs typeface="Segoe UI" pitchFamily="34" charset="-120"/>
              </a:rPr>
              <a:t>R3</a:t>
            </a:r>
            <a:endParaRPr lang="en-US" sz="1300" dirty="0"/>
          </a:p>
          <a:p>
            <a:pPr algn="ctr" indent="0" marL="0">
              <a:buNone/>
            </a:pPr>
            <a:r>
              <a:rPr lang="en-US" sz="800" dirty="0">
                <a:solidFill>
                  <a:srgbClr val="93A4C8"/>
                </a:solidFill>
                <a:latin typeface="Segoe UI" pitchFamily="34" charset="0"/>
                <a:ea typeface="Segoe UI" pitchFamily="34" charset="-122"/>
                <a:cs typeface="Segoe UI" pitchFamily="34" charset="-120"/>
              </a:rPr>
              <a:t>1 unit</a:t>
            </a:r>
            <a:endParaRPr lang="en-US" sz="1300" dirty="0"/>
          </a:p>
        </p:txBody>
      </p:sp>
      <p:sp>
        <p:nvSpPr>
          <p:cNvPr id="31" name="Shape 28"/>
          <p:cNvSpPr/>
          <p:nvPr/>
        </p:nvSpPr>
        <p:spPr>
          <a:xfrm>
            <a:off x="548640" y="5212080"/>
            <a:ext cx="4206240" cy="1051560"/>
          </a:xfrm>
          <a:prstGeom prst="roundRect">
            <a:avLst>
              <a:gd name="adj" fmla="val 6957"/>
            </a:avLst>
          </a:prstGeom>
          <a:solidFill>
            <a:srgbClr val="142347"/>
          </a:solidFill>
          <a:ln w="12700">
            <a:solidFill>
              <a:srgbClr val="24396B"/>
            </a:solidFill>
            <a:prstDash val="solid"/>
          </a:ln>
        </p:spPr>
      </p:sp>
      <p:sp>
        <p:nvSpPr>
          <p:cNvPr id="32" name="Text 29"/>
          <p:cNvSpPr txBox="1"/>
          <p:nvPr/>
        </p:nvSpPr>
        <p:spPr>
          <a:xfrm>
            <a:off x="685800" y="5212080"/>
            <a:ext cx="3977640" cy="1051560"/>
          </a:xfrm>
          <a:prstGeom prst="rect">
            <a:avLst/>
          </a:prstGeom>
          <a:noFill/>
          <a:ln/>
        </p:spPr>
        <p:txBody>
          <a:bodyPr wrap="square" lIns="0" tIns="0" rIns="0" bIns="0" rtlCol="0" anchor="ctr"/>
          <a:lstStyle/>
          <a:p>
            <a:pPr indent="0" marL="0">
              <a:buNone/>
            </a:pPr>
            <a:r>
              <a:rPr lang="en-US" sz="950" dirty="0">
                <a:solidFill>
                  <a:srgbClr val="FF6B61"/>
                </a:solidFill>
                <a:latin typeface="Consolas" pitchFamily="34" charset="0"/>
                <a:ea typeface="Consolas" pitchFamily="34" charset="-122"/>
                <a:cs typeface="Consolas" pitchFamily="34" charset="-120"/>
              </a:rPr>
              <a:t>[DETECT] DEADLOCK among: P1, P2, P3</a:t>
            </a:r>
            <a:endParaRPr lang="en-US" sz="950" dirty="0"/>
          </a:p>
          <a:p>
            <a:pPr indent="0" marL="0">
              <a:buNone/>
            </a:pPr>
            <a:r>
              <a:rPr lang="en-US" sz="950" dirty="0">
                <a:solidFill>
                  <a:srgbClr val="79C0FF"/>
                </a:solidFill>
                <a:latin typeface="Consolas" pitchFamily="34" charset="0"/>
                <a:ea typeface="Consolas" pitchFamily="34" charset="-122"/>
                <a:cs typeface="Consolas" pitchFamily="34" charset="-120"/>
              </a:rPr>
              <a:t>[DETECT] cycle: P1 → R2 → P2 → R3 → P3 → R1 → P1</a:t>
            </a:r>
            <a:endParaRPr lang="en-US" sz="950" dirty="0"/>
          </a:p>
        </p:txBody>
      </p:sp>
      <p:sp>
        <p:nvSpPr>
          <p:cNvPr id="33" name="Text 30"/>
          <p:cNvSpPr txBox="1"/>
          <p:nvPr/>
        </p:nvSpPr>
        <p:spPr>
          <a:xfrm>
            <a:off x="5029200" y="1417320"/>
            <a:ext cx="6400800" cy="320040"/>
          </a:xfrm>
          <a:prstGeom prst="rect">
            <a:avLst/>
          </a:prstGeom>
          <a:noFill/>
          <a:ln/>
        </p:spPr>
        <p:txBody>
          <a:bodyPr wrap="square" lIns="0" tIns="0" rIns="0" bIns="0" rtlCol="0" anchor="ctr"/>
          <a:lstStyle/>
          <a:p>
            <a:pPr indent="0" marL="0">
              <a:buNone/>
            </a:pPr>
            <a:r>
              <a:rPr lang="en-US" sz="1500" b="1" dirty="0">
                <a:solidFill>
                  <a:srgbClr val="22D3EE"/>
                </a:solidFill>
                <a:latin typeface="Segoe UI" pitchFamily="34" charset="0"/>
                <a:ea typeface="Segoe UI" pitchFamily="34" charset="-122"/>
                <a:cs typeface="Segoe UI" pitchFamily="34" charset="-120"/>
              </a:rPr>
              <a:t>Recovery results (metrics panel values)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0" y="1783080"/>
          <a:ext cx="6629400" cy="914400"/>
        </p:xfrm>
        <a:graphic>
          <a:graphicData uri="http://schemas.openxmlformats.org/drawingml/2006/table">
            <a:tbl>
              <a:tblPr/>
              <a:tblGrid>
                <a:gridCol w="1965960"/>
                <a:gridCol w="1188720"/>
                <a:gridCol w="1097280"/>
                <a:gridCol w="1097280"/>
                <a:gridCol w="1280160"/>
              </a:tblGrid>
              <a:tr h="438912">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Scenario</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3B82F6"/>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Deadlocked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3B82F6"/>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Kill all</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3B82F6"/>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Kill one</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3B82F6"/>
                    </a:solidFill>
                  </a:tcPr>
                </a:tc>
                <a:tc>
                  <a:txBody>
                    <a:bodyPr/>
                    <a:lstStyle/>
                    <a:p>
                      <a:pPr algn="ctr" indent="0" marL="0">
                        <a:buNone/>
                      </a:pPr>
                      <a:r>
                        <a:rPr lang="en-US" sz="1100" b="1" dirty="0">
                          <a:solidFill>
                            <a:srgbClr val="FFFFFF"/>
                          </a:solidFill>
                          <a:latin typeface="Segoe UI" pitchFamily="34" charset="0"/>
                          <a:ea typeface="Segoe UI" pitchFamily="34" charset="-122"/>
                          <a:cs typeface="Segoe UI" pitchFamily="34" charset="-120"/>
                        </a:rPr>
                        <a:t>Preempt</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3B82F6"/>
                    </a:solidFill>
                  </a:tcPr>
                </a:tc>
              </a:tr>
              <a:tr h="438912">
                <a:tc>
                  <a:txBody>
                    <a:bodyPr/>
                    <a:lstStyle/>
                    <a:p>
                      <a:pPr algn="l" indent="0" marL="0">
                        <a:buNone/>
                      </a:pPr>
                      <a:r>
                        <a:rPr lang="en-US" sz="1100" b="1" dirty="0">
                          <a:solidFill>
                            <a:srgbClr val="E8EEFF"/>
                          </a:solidFill>
                          <a:latin typeface="Segoe UI" pitchFamily="34" charset="0"/>
                          <a:ea typeface="Segoe UI" pitchFamily="34" charset="-122"/>
                          <a:cs typeface="Segoe UI" pitchFamily="34" charset="-120"/>
                        </a:rPr>
                        <a:t>Classic (2)</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FF6B61"/>
                          </a:solidFill>
                          <a:latin typeface="Segoe UI" pitchFamily="34" charset="0"/>
                          <a:ea typeface="Segoe UI" pitchFamily="34" charset="-122"/>
                          <a:cs typeface="Segoe UI" pitchFamily="34" charset="-120"/>
                        </a:rPr>
                        <a:t>P1, P2</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2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rollback</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r>
              <a:tr h="438912">
                <a:tc>
                  <a:txBody>
                    <a:bodyPr/>
                    <a:lstStyle/>
                    <a:p>
                      <a:pPr algn="l" indent="0" marL="0">
                        <a:buNone/>
                      </a:pPr>
                      <a:r>
                        <a:rPr lang="en-US" sz="1100" b="1" dirty="0">
                          <a:solidFill>
                            <a:srgbClr val="E8EEFF"/>
                          </a:solidFill>
                          <a:latin typeface="Segoe UI" pitchFamily="34" charset="0"/>
                          <a:ea typeface="Segoe UI" pitchFamily="34" charset="-122"/>
                          <a:cs typeface="Segoe UI" pitchFamily="34" charset="-120"/>
                        </a:rPr>
                        <a:t>3-process circle</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FF6B61"/>
                          </a:solidFill>
                          <a:latin typeface="Segoe UI" pitchFamily="34" charset="0"/>
                          <a:ea typeface="Segoe UI" pitchFamily="34" charset="-122"/>
                          <a:cs typeface="Segoe UI" pitchFamily="34" charset="-120"/>
                        </a:rPr>
                        <a:t>P1, P2, P3</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3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rollback</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r>
              <a:tr h="438912">
                <a:tc>
                  <a:txBody>
                    <a:bodyPr/>
                    <a:lstStyle/>
                    <a:p>
                      <a:pPr algn="l" indent="0" marL="0">
                        <a:buNone/>
                      </a:pPr>
                      <a:r>
                        <a:rPr lang="en-US" sz="1100" b="1" dirty="0">
                          <a:solidFill>
                            <a:srgbClr val="E8EEFF"/>
                          </a:solidFill>
                          <a:latin typeface="Segoe UI" pitchFamily="34" charset="0"/>
                          <a:ea typeface="Segoe UI" pitchFamily="34" charset="-122"/>
                          <a:cs typeface="Segoe UI" pitchFamily="34" charset="-120"/>
                        </a:rPr>
                        <a:t>Dining philosophers (4)</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FF6B61"/>
                          </a:solidFill>
                          <a:latin typeface="Segoe UI" pitchFamily="34" charset="0"/>
                          <a:ea typeface="Segoe UI" pitchFamily="34" charset="-122"/>
                          <a:cs typeface="Segoe UI" pitchFamily="34" charset="-120"/>
                        </a:rPr>
                        <a:t>P1 to P4</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4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killed</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1 rollback</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r>
              <a:tr h="438912">
                <a:tc>
                  <a:txBody>
                    <a:bodyPr/>
                    <a:lstStyle/>
                    <a:p>
                      <a:pPr algn="l" indent="0" marL="0">
                        <a:buNone/>
                      </a:pPr>
                      <a:r>
                        <a:rPr lang="en-US" sz="1100" b="1" dirty="0">
                          <a:solidFill>
                            <a:srgbClr val="E8EEFF"/>
                          </a:solidFill>
                          <a:latin typeface="Segoe UI" pitchFamily="34" charset="0"/>
                          <a:ea typeface="Segoe UI" pitchFamily="34" charset="-122"/>
                          <a:cs typeface="Segoe UI" pitchFamily="34" charset="-120"/>
                        </a:rPr>
                        <a:t>Multi-instance</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5BD37C"/>
                          </a:solidFill>
                          <a:latin typeface="Segoe UI" pitchFamily="34" charset="0"/>
                          <a:ea typeface="Segoe UI" pitchFamily="34" charset="-122"/>
                          <a:cs typeface="Segoe UI" pitchFamily="34" charset="-120"/>
                        </a:rPr>
                        <a:t>None</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n/a</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n/a</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c>
                  <a:txBody>
                    <a:bodyPr/>
                    <a:lstStyle/>
                    <a:p>
                      <a:pPr algn="ctr" indent="0" marL="0">
                        <a:buNone/>
                      </a:pPr>
                      <a:r>
                        <a:rPr lang="en-US" sz="1100" dirty="0">
                          <a:solidFill>
                            <a:srgbClr val="E8EEFF"/>
                          </a:solidFill>
                          <a:latin typeface="Segoe UI" pitchFamily="34" charset="0"/>
                          <a:ea typeface="Segoe UI" pitchFamily="34" charset="-122"/>
                          <a:cs typeface="Segoe UI" pitchFamily="34" charset="-120"/>
                        </a:rPr>
                        <a:t>n/a</a:t>
                      </a:r>
                      <a:endParaRPr lang="en-US" sz="1100" dirty="0">
                        <a:latin typeface="Segoe UI" charset="0"/>
                        <a:ea typeface="Segoe UI" charset="0"/>
                        <a:cs typeface="Segoe UI" charset="0"/>
                      </a:endParaRPr>
                    </a:p>
                  </a:txBody>
                  <a:tcPr marL="91440" marR="91440" marT="45720" marB="45720" anchor="ctr">
                    <a:lnL w="12700" cap="flat" cmpd="sng" algn="ctr">
                      <a:solidFill>
                        <a:srgbClr val="24396B"/>
                      </a:solidFill>
                      <a:prstDash val="solid"/>
                      <a:round/>
                      <a:headEnd type="none" w="med" len="med"/>
                      <a:tailEnd type="none" w="med" len="med"/>
                    </a:lnL>
                    <a:lnR w="12700" cap="flat" cmpd="sng" algn="ctr">
                      <a:solidFill>
                        <a:srgbClr val="24396B"/>
                      </a:solidFill>
                      <a:prstDash val="solid"/>
                      <a:round/>
                      <a:headEnd type="none" w="med" len="med"/>
                      <a:tailEnd type="none" w="med" len="med"/>
                    </a:lnR>
                    <a:lnT w="12700" cap="flat" cmpd="sng" algn="ctr">
                      <a:solidFill>
                        <a:srgbClr val="24396B"/>
                      </a:solidFill>
                      <a:prstDash val="solid"/>
                      <a:round/>
                      <a:headEnd type="none" w="med" len="med"/>
                      <a:tailEnd type="none" w="med" len="med"/>
                    </a:lnT>
                    <a:lnB w="12700" cap="flat" cmpd="sng" algn="ctr">
                      <a:solidFill>
                        <a:srgbClr val="24396B"/>
                      </a:solidFill>
                      <a:prstDash val="solid"/>
                      <a:round/>
                      <a:headEnd type="none" w="med" len="med"/>
                      <a:tailEnd type="none" w="med" len="med"/>
                    </a:lnB>
                    <a:solidFill>
                      <a:srgbClr val="0F1A36"/>
                    </a:solidFill>
                  </a:tcPr>
                </a:tc>
              </a:tr>
            </a:tbl>
          </a:graphicData>
        </a:graphic>
      </p:graphicFrame>
      <p:sp>
        <p:nvSpPr>
          <p:cNvPr id="35" name="Text 31"/>
          <p:cNvSpPr txBox="1"/>
          <p:nvPr/>
        </p:nvSpPr>
        <p:spPr>
          <a:xfrm>
            <a:off x="5029200" y="4069080"/>
            <a:ext cx="6629400" cy="457200"/>
          </a:xfrm>
          <a:prstGeom prst="rect">
            <a:avLst/>
          </a:prstGeom>
          <a:noFill/>
          <a:ln/>
        </p:spPr>
        <p:txBody>
          <a:bodyPr wrap="square" lIns="0" tIns="0" rIns="0" bIns="0" rtlCol="0" anchor="ctr"/>
          <a:lstStyle/>
          <a:p>
            <a:pPr indent="0" marL="0">
              <a:buNone/>
            </a:pPr>
            <a:r>
              <a:rPr lang="en-US" sz="1050" i="1" dirty="0">
                <a:solidFill>
                  <a:srgbClr val="93A4C8"/>
                </a:solidFill>
                <a:latin typeface="Segoe UI" pitchFamily="34" charset="0"/>
                <a:ea typeface="Segoe UI" pitchFamily="34" charset="-122"/>
                <a:cs typeface="Segoe UI" pitchFamily="34" charset="-120"/>
              </a:rPr>
              <a:t>Every strategy ended with "deadlock resolved" using 2 detection rounds; resources freed = processes killed or rolled back.</a:t>
            </a:r>
            <a:endParaRPr lang="en-US" sz="1050" dirty="0"/>
          </a:p>
        </p:txBody>
      </p:sp>
      <p:sp>
        <p:nvSpPr>
          <p:cNvPr id="36" name="Shape 32"/>
          <p:cNvSpPr/>
          <p:nvPr/>
        </p:nvSpPr>
        <p:spPr>
          <a:xfrm>
            <a:off x="5029200" y="4663440"/>
            <a:ext cx="3246120" cy="1600200"/>
          </a:xfrm>
          <a:prstGeom prst="roundRect">
            <a:avLst>
              <a:gd name="adj" fmla="val 4571"/>
            </a:avLst>
          </a:prstGeom>
          <a:solidFill>
            <a:srgbClr val="0F1A36"/>
          </a:solidFill>
          <a:ln w="12700">
            <a:solidFill>
              <a:srgbClr val="5BD37C"/>
            </a:solidFill>
            <a:prstDash val="solid"/>
          </a:ln>
        </p:spPr>
      </p:sp>
      <p:sp>
        <p:nvSpPr>
          <p:cNvPr id="37" name="Text 33"/>
          <p:cNvSpPr txBox="1"/>
          <p:nvPr/>
        </p:nvSpPr>
        <p:spPr>
          <a:xfrm>
            <a:off x="5166360" y="4663440"/>
            <a:ext cx="2971800" cy="1600200"/>
          </a:xfrm>
          <a:prstGeom prst="rect">
            <a:avLst/>
          </a:prstGeom>
          <a:noFill/>
          <a:ln/>
        </p:spPr>
        <p:txBody>
          <a:bodyPr wrap="square" lIns="0" tIns="0" rIns="0" bIns="0" rtlCol="0" anchor="ctr"/>
          <a:lstStyle/>
          <a:p>
            <a:pPr indent="0" marL="0">
              <a:spcAft>
                <a:spcPts val="400"/>
              </a:spcAft>
              <a:buNone/>
            </a:pPr>
            <a:r>
              <a:rPr lang="en-US" sz="1300" b="1" dirty="0">
                <a:solidFill>
                  <a:srgbClr val="5BD37C"/>
                </a:solidFill>
                <a:latin typeface="Segoe UI" pitchFamily="34" charset="0"/>
                <a:ea typeface="Segoe UI" pitchFamily="34" charset="-122"/>
                <a:cs typeface="Segoe UI" pitchFamily="34" charset="-120"/>
              </a:rPr>
              <a:t>Multi-instance is safe</a:t>
            </a:r>
            <a:endParaRPr lang="en-US" sz="1300" dirty="0"/>
          </a:p>
          <a:p>
            <a:pPr indent="0" marL="0">
              <a:spcAft>
                <a:spcPts val="400"/>
              </a:spcAft>
              <a:buNone/>
            </a:pPr>
            <a:r>
              <a:rPr lang="en-US" sz="1100" dirty="0">
                <a:solidFill>
                  <a:srgbClr val="E8EEFF"/>
                </a:solidFill>
                <a:latin typeface="Segoe UI" pitchFamily="34" charset="0"/>
                <a:ea typeface="Segoe UI" pitchFamily="34" charset="-122"/>
                <a:cs typeface="Segoe UI" pitchFamily="34" charset="-120"/>
              </a:rPr>
              <a:t>A busy-looking graph is not always a deadlock: P2 can finish and free an R1 unit.</a:t>
            </a:r>
            <a:endParaRPr lang="en-US" sz="1300" dirty="0"/>
          </a:p>
        </p:txBody>
      </p:sp>
      <p:sp>
        <p:nvSpPr>
          <p:cNvPr id="38" name="Shape 34"/>
          <p:cNvSpPr/>
          <p:nvPr/>
        </p:nvSpPr>
        <p:spPr>
          <a:xfrm>
            <a:off x="8412480" y="4663440"/>
            <a:ext cx="3246120" cy="1600200"/>
          </a:xfrm>
          <a:prstGeom prst="roundRect">
            <a:avLst>
              <a:gd name="adj" fmla="val 4571"/>
            </a:avLst>
          </a:prstGeom>
          <a:solidFill>
            <a:srgbClr val="0F1A36"/>
          </a:solidFill>
          <a:ln w="12700">
            <a:solidFill>
              <a:srgbClr val="22D3EE"/>
            </a:solidFill>
            <a:prstDash val="solid"/>
          </a:ln>
        </p:spPr>
      </p:sp>
      <p:sp>
        <p:nvSpPr>
          <p:cNvPr id="39" name="Text 35"/>
          <p:cNvSpPr txBox="1"/>
          <p:nvPr/>
        </p:nvSpPr>
        <p:spPr>
          <a:xfrm>
            <a:off x="8549640" y="4663440"/>
            <a:ext cx="2971800" cy="1600200"/>
          </a:xfrm>
          <a:prstGeom prst="rect">
            <a:avLst/>
          </a:prstGeom>
          <a:noFill/>
          <a:ln/>
        </p:spPr>
        <p:txBody>
          <a:bodyPr wrap="square" lIns="0" tIns="0" rIns="0" bIns="0" rtlCol="0" anchor="ctr"/>
          <a:lstStyle/>
          <a:p>
            <a:pPr indent="0" marL="0">
              <a:spcAft>
                <a:spcPts val="400"/>
              </a:spcAft>
              <a:buNone/>
            </a:pPr>
            <a:r>
              <a:rPr lang="en-US" sz="1300" b="1" dirty="0">
                <a:solidFill>
                  <a:srgbClr val="22D3EE"/>
                </a:solidFill>
                <a:latin typeface="Segoe UI" pitchFamily="34" charset="0"/>
                <a:ea typeface="Segoe UI" pitchFamily="34" charset="-122"/>
                <a:cs typeface="Segoe UI" pitchFamily="34" charset="-120"/>
              </a:rPr>
              <a:t>Live demo</a:t>
            </a:r>
            <a:endParaRPr lang="en-US" sz="1300" dirty="0"/>
          </a:p>
          <a:p>
            <a:pPr indent="0" marL="0">
              <a:spcAft>
                <a:spcPts val="400"/>
              </a:spcAft>
              <a:buNone/>
            </a:pPr>
            <a:r>
              <a:rPr lang="en-US" sz="1100" dirty="0">
                <a:solidFill>
                  <a:srgbClr val="E8EEFF"/>
                </a:solidFill>
                <a:latin typeface="Segoe UI" pitchFamily="34" charset="0"/>
                <a:ea typeface="Segoe UI" pitchFamily="34" charset="-122"/>
                <a:cs typeface="Segoe UI" pitchFamily="34" charset="-120"/>
              </a:rPr>
              <a:t>3 threads, 3 mutexes: watchdog detects the deadlock, then you pick the victim.</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F"/>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2D3EE"/>
          </a:solidFill>
          <a:ln w="12700">
            <a:solidFill>
              <a:srgbClr val="22D3EE"/>
            </a:solidFill>
            <a:prstDash val="solid"/>
          </a:ln>
        </p:spPr>
      </p:sp>
      <p:sp>
        <p:nvSpPr>
          <p:cNvPr id="3" name="Text 1"/>
          <p:cNvSpPr txBox="1"/>
          <p:nvPr/>
        </p:nvSpPr>
        <p:spPr>
          <a:xfrm>
            <a:off x="548640" y="292608"/>
            <a:ext cx="7315200" cy="274320"/>
          </a:xfrm>
          <a:prstGeom prst="rect">
            <a:avLst/>
          </a:prstGeom>
          <a:noFill/>
          <a:ln/>
        </p:spPr>
        <p:txBody>
          <a:bodyPr wrap="square" lIns="0" tIns="0" rIns="0" bIns="0" rtlCol="0" anchor="ctr"/>
          <a:lstStyle/>
          <a:p>
            <a:pPr indent="0" marL="0">
              <a:buNone/>
            </a:pPr>
            <a:r>
              <a:rPr lang="en-US" sz="1100" b="1" spc="400" kern="0" dirty="0">
                <a:solidFill>
                  <a:srgbClr val="22D3EE"/>
                </a:solidFill>
                <a:latin typeface="Segoe UI" pitchFamily="34" charset="0"/>
                <a:ea typeface="Segoe UI" pitchFamily="34" charset="-122"/>
                <a:cs typeface="Segoe UI" pitchFamily="34" charset="-120"/>
              </a:rPr>
              <a:t>07  CONCLUSION</a:t>
            </a:r>
            <a:endParaRPr lang="en-US" sz="1100" dirty="0"/>
          </a:p>
        </p:txBody>
      </p:sp>
      <p:sp>
        <p:nvSpPr>
          <p:cNvPr id="4" name="Text 2"/>
          <p:cNvSpPr txBox="1"/>
          <p:nvPr/>
        </p:nvSpPr>
        <p:spPr>
          <a:xfrm>
            <a:off x="548640" y="566928"/>
            <a:ext cx="10972800" cy="640080"/>
          </a:xfrm>
          <a:prstGeom prst="rect">
            <a:avLst/>
          </a:prstGeom>
          <a:noFill/>
          <a:ln/>
        </p:spPr>
        <p:txBody>
          <a:bodyPr wrap="square" lIns="0" tIns="0" rIns="0" bIns="0" rtlCol="0" anchor="ctr"/>
          <a:lstStyle/>
          <a:p>
            <a:pPr indent="0" marL="0">
              <a:buNone/>
            </a:pPr>
            <a:r>
              <a:rPr lang="en-US" sz="3000" b="1" dirty="0">
                <a:solidFill>
                  <a:srgbClr val="E8EEFF"/>
                </a:solidFill>
                <a:latin typeface="Segoe UI" pitchFamily="34" charset="0"/>
                <a:ea typeface="Segoe UI" pitchFamily="34" charset="-122"/>
                <a:cs typeface="Segoe UI" pitchFamily="34" charset="-120"/>
              </a:rPr>
              <a:t>Conclusion and Future Scope</a:t>
            </a:r>
            <a:endParaRPr lang="en-US" sz="3000" dirty="0"/>
          </a:p>
        </p:txBody>
      </p:sp>
      <p:sp>
        <p:nvSpPr>
          <p:cNvPr id="5" name="Text 3"/>
          <p:cNvSpPr txBox="1"/>
          <p:nvPr/>
        </p:nvSpPr>
        <p:spPr>
          <a:xfrm>
            <a:off x="548640" y="6473952"/>
            <a:ext cx="7315200" cy="228600"/>
          </a:xfrm>
          <a:prstGeom prst="rect">
            <a:avLst/>
          </a:prstGeom>
          <a:noFill/>
          <a:ln/>
        </p:spPr>
        <p:txBody>
          <a:bodyPr wrap="square" lIns="0" tIns="0" rIns="0" bIns="0" rtlCol="0" anchor="ctr"/>
          <a:lstStyle/>
          <a:p>
            <a:pPr indent="0" marL="0">
              <a:buNone/>
            </a:pPr>
            <a:r>
              <a:rPr lang="en-US" sz="900" dirty="0">
                <a:solidFill>
                  <a:srgbClr val="93A4C8"/>
                </a:solidFill>
                <a:latin typeface="Segoe UI" pitchFamily="34" charset="0"/>
                <a:ea typeface="Segoe UI" pitchFamily="34" charset="-122"/>
                <a:cs typeface="Segoe UI" pitchFamily="34" charset="-120"/>
              </a:rPr>
              <a:t>Deadlock Detection and Recovery Simulator  |  Team 9</a:t>
            </a:r>
            <a:endParaRPr lang="en-US" sz="900" dirty="0"/>
          </a:p>
        </p:txBody>
      </p:sp>
      <p:sp>
        <p:nvSpPr>
          <p:cNvPr id="6" name="Text 4"/>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8" name="Text 5"/>
          <p:cNvSpPr txBox="1"/>
          <p:nvPr/>
        </p:nvSpPr>
        <p:spPr>
          <a:xfrm>
            <a:off x="10881360" y="6473952"/>
            <a:ext cx="822960" cy="228600"/>
          </a:xfrm>
          <a:prstGeom prst="rect">
            <a:avLst/>
          </a:prstGeom>
          <a:noFill/>
          <a:ln/>
        </p:spPr>
        <p:txBody>
          <a:bodyPr wrap="square" lIns="0" tIns="0" rIns="0" bIns="0" rtlCol="0" anchor="ctr"/>
          <a:lstStyle/>
          <a:p>
            <a:pPr algn="r" indent="0" marL="0">
              <a:buNone/>
            </a:pPr>
            <a:r>
              <a:rPr lang="en-US" sz="900" dirty="0">
                <a:solidFill>
                  <a:srgbClr val="93A4C8"/>
                </a:solidFill>
                <a:latin typeface="Segoe UI" pitchFamily="34" charset="0"/>
                <a:ea typeface="Segoe UI" pitchFamily="34" charset="-122"/>
                <a:cs typeface="Segoe UI" pitchFamily="34" charset="-120"/>
              </a:rPr>
              <a:t>8 / 8</a:t>
            </a:r>
            <a:endParaRPr lang="en-US" sz="900" dirty="0"/>
          </a:p>
        </p:txBody>
      </p:sp>
      <p:sp>
        <p:nvSpPr>
          <p:cNvPr id="9" name="Shape 6"/>
          <p:cNvSpPr/>
          <p:nvPr/>
        </p:nvSpPr>
        <p:spPr>
          <a:xfrm>
            <a:off x="548640" y="1463040"/>
            <a:ext cx="5486400" cy="3566160"/>
          </a:xfrm>
          <a:prstGeom prst="roundRect">
            <a:avLst>
              <a:gd name="adj" fmla="val 2051"/>
            </a:avLst>
          </a:prstGeom>
          <a:solidFill>
            <a:srgbClr val="0F1A36"/>
          </a:solidFill>
          <a:ln w="12700">
            <a:solidFill>
              <a:srgbClr val="24396B"/>
            </a:solidFill>
            <a:prstDash val="solid"/>
          </a:ln>
        </p:spPr>
      </p:sp>
      <p:sp>
        <p:nvSpPr>
          <p:cNvPr id="10" name="Text 7"/>
          <p:cNvSpPr txBox="1"/>
          <p:nvPr/>
        </p:nvSpPr>
        <p:spPr>
          <a:xfrm>
            <a:off x="777240" y="1572768"/>
            <a:ext cx="4572000" cy="320040"/>
          </a:xfrm>
          <a:prstGeom prst="rect">
            <a:avLst/>
          </a:prstGeom>
          <a:noFill/>
          <a:ln/>
        </p:spPr>
        <p:txBody>
          <a:bodyPr wrap="square" lIns="0" tIns="0" rIns="0" bIns="0" rtlCol="0" anchor="ctr"/>
          <a:lstStyle/>
          <a:p>
            <a:pPr indent="0" marL="0">
              <a:buNone/>
            </a:pPr>
            <a:r>
              <a:rPr lang="en-US" sz="1800" b="1" dirty="0">
                <a:solidFill>
                  <a:srgbClr val="22D3EE"/>
                </a:solidFill>
                <a:latin typeface="Segoe UI" pitchFamily="34" charset="0"/>
                <a:ea typeface="Segoe UI" pitchFamily="34" charset="-122"/>
                <a:cs typeface="Segoe UI" pitchFamily="34" charset="-120"/>
              </a:rPr>
              <a:t>What we built</a:t>
            </a:r>
            <a:endParaRPr lang="en-US" sz="1800" dirty="0"/>
          </a:p>
        </p:txBody>
      </p:sp>
      <p:sp>
        <p:nvSpPr>
          <p:cNvPr id="11" name="Text 8"/>
          <p:cNvSpPr txBox="1"/>
          <p:nvPr/>
        </p:nvSpPr>
        <p:spPr>
          <a:xfrm>
            <a:off x="777240" y="1965960"/>
            <a:ext cx="50749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Interactive simulator with a live resource allocation graph</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Terminal commands plus buttons and 4 preset scenarios</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Detection for single and multiple instances, with cycle output</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3 automatic recovery strategies and manual victim choice</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Metrics and a live demo of detect-and-recover</a:t>
            </a:r>
            <a:endParaRPr lang="en-US" sz="1400" dirty="0"/>
          </a:p>
        </p:txBody>
      </p:sp>
      <p:sp>
        <p:nvSpPr>
          <p:cNvPr id="12" name="Shape 9"/>
          <p:cNvSpPr/>
          <p:nvPr/>
        </p:nvSpPr>
        <p:spPr>
          <a:xfrm>
            <a:off x="6309360" y="1463040"/>
            <a:ext cx="5349240" cy="3566160"/>
          </a:xfrm>
          <a:prstGeom prst="roundRect">
            <a:avLst>
              <a:gd name="adj" fmla="val 2051"/>
            </a:avLst>
          </a:prstGeom>
          <a:solidFill>
            <a:srgbClr val="0F1A36"/>
          </a:solidFill>
          <a:ln w="12700">
            <a:solidFill>
              <a:srgbClr val="FFB54D"/>
            </a:solidFill>
            <a:prstDash val="solid"/>
          </a:ln>
        </p:spPr>
      </p:sp>
      <p:sp>
        <p:nvSpPr>
          <p:cNvPr id="13" name="Text 10"/>
          <p:cNvSpPr txBox="1"/>
          <p:nvPr/>
        </p:nvSpPr>
        <p:spPr>
          <a:xfrm>
            <a:off x="6537960" y="1572768"/>
            <a:ext cx="2743200" cy="320040"/>
          </a:xfrm>
          <a:prstGeom prst="rect">
            <a:avLst/>
          </a:prstGeom>
          <a:noFill/>
          <a:ln/>
        </p:spPr>
        <p:txBody>
          <a:bodyPr wrap="square" lIns="0" tIns="0" rIns="0" bIns="0" rtlCol="0" anchor="ctr"/>
          <a:lstStyle/>
          <a:p>
            <a:pPr indent="0" marL="0">
              <a:buNone/>
            </a:pPr>
            <a:r>
              <a:rPr lang="en-US" sz="1800" b="1" dirty="0">
                <a:solidFill>
                  <a:srgbClr val="FFB54D"/>
                </a:solidFill>
                <a:latin typeface="Segoe UI" pitchFamily="34" charset="0"/>
                <a:ea typeface="Segoe UI" pitchFamily="34" charset="-122"/>
                <a:cs typeface="Segoe UI" pitchFamily="34" charset="-120"/>
              </a:rPr>
              <a:t>Future scope</a:t>
            </a:r>
            <a:endParaRPr lang="en-US" sz="1800" dirty="0"/>
          </a:p>
        </p:txBody>
      </p:sp>
      <p:sp>
        <p:nvSpPr>
          <p:cNvPr id="14" name="Shape 11"/>
          <p:cNvSpPr/>
          <p:nvPr/>
        </p:nvSpPr>
        <p:spPr>
          <a:xfrm>
            <a:off x="9052560" y="1591056"/>
            <a:ext cx="2423160" cy="274320"/>
          </a:xfrm>
          <a:prstGeom prst="roundRect">
            <a:avLst>
              <a:gd name="adj" fmla="val 50000"/>
            </a:avLst>
          </a:prstGeom>
          <a:solidFill>
            <a:srgbClr val="142347"/>
          </a:solidFill>
          <a:ln w="12700">
            <a:solidFill>
              <a:srgbClr val="FFB54D"/>
            </a:solidFill>
            <a:prstDash val="solid"/>
          </a:ln>
        </p:spPr>
      </p:sp>
      <p:sp>
        <p:nvSpPr>
          <p:cNvPr id="15" name="Text 12"/>
          <p:cNvSpPr txBox="1"/>
          <p:nvPr/>
        </p:nvSpPr>
        <p:spPr>
          <a:xfrm>
            <a:off x="9052560" y="1591056"/>
            <a:ext cx="2423160" cy="274320"/>
          </a:xfrm>
          <a:prstGeom prst="rect">
            <a:avLst/>
          </a:prstGeom>
          <a:noFill/>
          <a:ln/>
        </p:spPr>
        <p:txBody>
          <a:bodyPr wrap="square" lIns="0" tIns="0" rIns="0" bIns="0" rtlCol="0" anchor="ctr"/>
          <a:lstStyle/>
          <a:p>
            <a:pPr algn="ctr" indent="0" marL="0">
              <a:buNone/>
            </a:pPr>
            <a:r>
              <a:rPr lang="en-US" sz="1000" b="1" dirty="0">
                <a:solidFill>
                  <a:srgbClr val="FFB54D"/>
                </a:solidFill>
                <a:latin typeface="Segoe UI" pitchFamily="34" charset="0"/>
                <a:ea typeface="Segoe UI" pitchFamily="34" charset="-122"/>
                <a:cs typeface="Segoe UI" pitchFamily="34" charset="-120"/>
              </a:rPr>
              <a:t>PROPOSED, NOT IMPLEMENTED</a:t>
            </a:r>
            <a:endParaRPr lang="en-US" sz="1000" dirty="0"/>
          </a:p>
        </p:txBody>
      </p:sp>
      <p:sp>
        <p:nvSpPr>
          <p:cNvPr id="16" name="Text 13"/>
          <p:cNvSpPr txBox="1"/>
          <p:nvPr/>
        </p:nvSpPr>
        <p:spPr>
          <a:xfrm>
            <a:off x="6537960" y="2011680"/>
            <a:ext cx="493776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Deadlock prevention / avoidance (e.g. Banker's algorithm)</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Victim choice using priority or cost, not only resources held</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Partial rollback instead of taking everything back</a:t>
            </a:r>
            <a:endParaRPr lang="en-US" sz="1400" dirty="0"/>
          </a:p>
          <a:p>
            <a:pPr marL="342900" indent="-342900">
              <a:spcAft>
                <a:spcPts val="800"/>
              </a:spcAft>
              <a:buSzPct val="100000"/>
              <a:buChar char="•"/>
            </a:pPr>
            <a:r>
              <a:rPr lang="en-US" sz="1400" dirty="0">
                <a:solidFill>
                  <a:srgbClr val="E8EEFF"/>
                </a:solidFill>
                <a:latin typeface="Segoe UI" pitchFamily="34" charset="0"/>
                <a:ea typeface="Segoe UI" pitchFamily="34" charset="-122"/>
                <a:cs typeface="Segoe UI" pitchFamily="34" charset="-120"/>
              </a:rPr>
              <a:t>Save or export results; compare strategies side by side</a:t>
            </a:r>
            <a:endParaRPr lang="en-US" sz="1400" dirty="0"/>
          </a:p>
        </p:txBody>
      </p:sp>
      <p:sp>
        <p:nvSpPr>
          <p:cNvPr id="17" name="Shape 14"/>
          <p:cNvSpPr/>
          <p:nvPr/>
        </p:nvSpPr>
        <p:spPr>
          <a:xfrm>
            <a:off x="548640" y="5257800"/>
            <a:ext cx="11109960" cy="1005840"/>
          </a:xfrm>
          <a:prstGeom prst="roundRect">
            <a:avLst>
              <a:gd name="adj" fmla="val 7273"/>
            </a:avLst>
          </a:prstGeom>
          <a:solidFill>
            <a:srgbClr val="142347"/>
          </a:solidFill>
          <a:ln w="19050">
            <a:solidFill>
              <a:srgbClr val="22D3EE"/>
            </a:solidFill>
            <a:prstDash val="solid"/>
          </a:ln>
        </p:spPr>
      </p:sp>
      <p:sp>
        <p:nvSpPr>
          <p:cNvPr id="18" name="Text 15"/>
          <p:cNvSpPr txBox="1"/>
          <p:nvPr/>
        </p:nvSpPr>
        <p:spPr>
          <a:xfrm>
            <a:off x="548640" y="5257800"/>
            <a:ext cx="6400800" cy="1005840"/>
          </a:xfrm>
          <a:prstGeom prst="rect">
            <a:avLst/>
          </a:prstGeom>
          <a:noFill/>
          <a:ln/>
        </p:spPr>
        <p:txBody>
          <a:bodyPr wrap="square" lIns="0" tIns="0" rIns="0" bIns="0" rtlCol="0" anchor="ctr"/>
          <a:lstStyle/>
          <a:p>
            <a:pPr algn="ctr" indent="0" marL="0">
              <a:buNone/>
            </a:pPr>
            <a:r>
              <a:rPr lang="en-US" sz="2800" b="1" dirty="0">
                <a:solidFill>
                  <a:srgbClr val="E8EEFF"/>
                </a:solidFill>
                <a:latin typeface="Segoe UI" pitchFamily="34" charset="0"/>
                <a:ea typeface="Segoe UI" pitchFamily="34" charset="-122"/>
                <a:cs typeface="Segoe UI" pitchFamily="34" charset="-120"/>
              </a:rPr>
              <a:t>Thank you!  Questions?</a:t>
            </a:r>
            <a:endParaRPr lang="en-US" sz="2800" dirty="0"/>
          </a:p>
        </p:txBody>
      </p:sp>
      <p:sp>
        <p:nvSpPr>
          <p:cNvPr id="19" name="Text 16"/>
          <p:cNvSpPr txBox="1"/>
          <p:nvPr/>
        </p:nvSpPr>
        <p:spPr>
          <a:xfrm>
            <a:off x="6858000" y="5257800"/>
            <a:ext cx="4663440" cy="1005840"/>
          </a:xfrm>
          <a:prstGeom prst="rect">
            <a:avLst/>
          </a:prstGeom>
          <a:noFill/>
          <a:ln/>
        </p:spPr>
        <p:txBody>
          <a:bodyPr wrap="square" lIns="0" tIns="0" rIns="0" bIns="0" rtlCol="0" anchor="ctr"/>
          <a:lstStyle/>
          <a:p>
            <a:pPr algn="r" indent="0" marL="0">
              <a:buNone/>
            </a:pPr>
            <a:r>
              <a:rPr lang="en-US" sz="1100" dirty="0">
                <a:solidFill>
                  <a:srgbClr val="22D3EE"/>
                </a:solidFill>
                <a:latin typeface="Segoe UI" pitchFamily="34" charset="0"/>
                <a:ea typeface="Segoe UI" pitchFamily="34" charset="-122"/>
                <a:cs typeface="Segoe UI" pitchFamily="34" charset="-120"/>
              </a:rPr>
              <a:t>Team 9:  K. Chaitanya  |  Aakiri Deeraj  |  K. Abhiram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 Detection and Recovery Simulator</dc:title>
  <dc:subject>PptxGenJS Presentation</dc:subject>
  <dc:creator>Team 9</dc:creator>
  <cp:lastModifiedBy>Team 9</cp:lastModifiedBy>
  <cp:revision>1</cp:revision>
  <dcterms:created xsi:type="dcterms:W3CDTF">2026-10-17T05:21:11Z</dcterms:created>
  <dcterms:modified xsi:type="dcterms:W3CDTF">2026-10-17T05:21:11Z</dcterms:modified>
</cp:coreProperties>
</file>